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evidence boundary. We ran the original multimodal Mamba classifier and native training workflow on a GB10. The results belong to a documented source-based protocol, which differs from the paper's environment and batch/rate settings. The customer demo is backed by a real saved classifier. Do not call this a validated production IDS or claim the paper's 97.50 percent accuracy as our result.</a:t>
            </a:r>
          </a:p>
          <a:p/>
          <a:p>
            <a:r>
              <a:t>Evidence: https://github.com/buffbeefalo/netmambaplus-reproduction/tree/main/docs/customer/evidence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initial repository had standard-library tests and parser dry runs only. The old native extensions did not build directly on CUDA 13. The compatibility fixes affect compiler targets, removed CUB APIs and the assembler path; the original model and loader checkout stays unchanged. Both the first build and the automated rebuild passed numerical checks. A short pretraining run exercises reconstruction learning; it does not recreate the paper's entire pretraining history.</a:t>
            </a:r>
          </a:p>
          <a:p/>
          <a:p>
            <a:r>
              <a:t>Evidence: https://github.com/buffbeefalo/netmambaplus-reproduction/tree/main/docs/customer/evidence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plus sign is material: NetMamba+ combines byte content, sizes and timing. The CSVs contain 1,500 payload-byte columns per packet, plus TTL, length, protocol, time delta and label. Full scans found 1,410,255 CICIDS2017 rows and 79,881 UNSW rows, but no flow identifiers or established packet grouping. We therefore used the authors' separate CICIoT2022 flow release. The six outputs are Flood, RTSP Brute Force and four IoT power/device categories, not a universal benign/malicious decision.</a:t>
            </a:r>
          </a:p>
          <a:p/>
          <a:p>
            <a:r>
              <a:t>Evidence: https://github.com/buffbeefalo/netmambaplus-reproduction/tree/main/docs/customer/evidence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Pretraining masks 90 percent of byte strides and 15 percent of each sequence modality in the selected recipe. The paper reports Browser and Kitsune pretraining; its exact corpus and checkpoint history have not been established here. Our short training-only functional run proves that the reconstruction path executes and learns on downstream data. Main fine-tuning begins from the released pretraining weights. Inference does not update weights or consume the benchmark label as a model feature. Softmax confidence is uncalibrated.</a:t>
            </a:r>
          </a:p>
          <a:p/>
          <a:p>
            <a:r>
              <a:t>Evidence: https://github.com/buffbeefalo/netmambaplus-reproduction/tree/main/docs/customer/evidence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preset runs 120 epochs with batch 128 and a base learning-rate parameter of 0.002. Native scaling gives a maximum effective rate of 0.001 for one process and accumulation one. The paper specifies batch 64 and rate 0.002. We used seeds zero, one and two and report them all. Five exact stored raw inputs overlap train and validation; six overlap train and test. Unknown earlier checkpoint exposure and physical capture independence remain limitations. Repeated strict evaluation checks the same frozen test result, not another independent holdout.</a:t>
            </a:r>
          </a:p>
          <a:p/>
          <a:p>
            <a:r>
              <a:t>Evidence: https://github.com/buffbeefalo/netmambaplus-reproduction/tree/main/docs/customer/evidence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is correct predictions divided by test rows. Weighted F1 weights each class by its number of true examples. Macro F1 treats every class equally, so a small weak class can lower macro F1 more strongly. The table reports all three declared seeds; the mean and sample standard deviation describe seed variability on the same dataset, not uncertainty across customer networks. The paper number is not our measurement and is not a directly controlled comparison. The full source-based experiment and strict re-evaluation are complete even if their scores do not match the paper.</a:t>
            </a:r>
          </a:p>
          <a:p/>
          <a:p>
            <a:r>
              <a:t>Evidence: https://github.com/buffbeefalo/netmambaplus-reproduction/tree/main/docs/customer/evidence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one off-diagonal cell as a concrete mistake: the row says what the dataset label was, and the column says what the classifier predicted. Diagonal cells are correct. These six classes mix two attacks with four IoT categories. A high aggregate score cannot establish coverage of other attacks or acceptable false alerts on a real network. The full prediction inventory preserves errors; no examples were removed to improve the display.</a:t>
            </a:r>
          </a:p>
          <a:p/>
          <a:p>
            <a:r>
              <a:t>Evidence: https://github.com/buffbeefalo/netmambaplus-reproduction/tree/main/docs/customer/evidence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HTML before the meeting. Press Play replay, then Show all, then select Prediction errors. The six class meanings and checkpoint hash are embedded with the measurements. This is a recorded inference demonstration, not live network traffic. The same repo contains commands to rerun actual GPU inference using the trained checkpoint. Raw packet payloads are not embedded in the presentation page.</a:t>
            </a:r>
          </a:p>
          <a:p/>
          <a:p>
            <a:r>
              <a:t>Evidence: https://github.com/buffbeefalo/netmambaplus-reproduction/tree/main/docs/customer/evidence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benchmark uses the frozen seed-zero classifier at batch sizes one, sixteen and one hundred twenty-eight, after training has finished. Each timing synchronizes CUDA before and after the model call. Show median and 95th-percentile batch latency, plus flows per second computed from mean time. Do not convert these figures into network line rate. The paper's 261.87 Mb/s and 3.15-second prototype figures concern its byte-only NetMamba online system on other hardware, not this model-only measurement.</a:t>
            </a:r>
          </a:p>
          <a:p/>
          <a:p>
            <a:r>
              <a:t>Evidence: https://github.com/buffbeefalo/netmambaplus-reproduction/tree/main/docs/customer/evidence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deployable IDS requires capture, a bounded flow cache, exact feature extraction, a model queue, an alert policy and monitoring. The authors' extraction helpers have hardcoded paths and a missing common-module dependency, so we do not present them as turnkey live capture. Measure packet loss, queue delays, active-flow memory and false alerts on independent traffic. Mamba's internal sequence state is per model input; it is not already a persistent online connection cache.</a:t>
            </a:r>
          </a:p>
          <a:p/>
          <a:p>
            <a:r>
              <a:t>Evidence: https://github.com/buffbeefalo/netmambaplus-reproduction/tree/main/docs/customer/evidence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SmartNIC is not automatically a neural accelerator. DOCA Flow describes packet match/action and steering capabilities. For an AI NPU, Intel Core Ultra through OpenVINO is one example to investigate, not an already supported target. The custom CUDA Mamba operations need a supported graph or replacement kernels. Parameter storage alone is about 7.48 MB in FP32; total memory includes buffers, activations and workspaces. TOPS does not predict latency for an input-dependent recurrence. Our export probe only tests one Torch graph-capture route.</a:t>
            </a:r>
          </a:p>
          <a:p/>
          <a:p>
            <a:r>
              <a:t>Evidence: https://github.com/buffbeefalo/netmambaplus-reproduction/tree/main/docs/customer/evidence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sentence is the safe summary to repeat: We trained and tested the original NetMamba+ classifier on the authors' compatible CICIoT2022 flows using a documented GB10 compatibility port, and can show the measured results and replay. It is not an exact reproduction of all paper results and not a production IDS. The remaining work is concrete: pretraining provenance, independent traffic, a compatible online extractor, operational alert validation and actual deployment on the chosen device.</a:t>
            </a:r>
          </a:p>
          <a:p/>
          <a:p>
            <a:r>
              <a:t>Evidence: https://github.com/buffbeefalo/netmambaplus-reproduction/tree/main/docs/customer/evidence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research is shared as a reviewed research record, not a raw private conversation. The focused council reviewed the staged plan; it did not independently certify later experiment results, and an older unratified audit remains historical. The command line tools and full measured records let a reviewer inspect the work directly. Third-party data and original weights remain externally obtained assets; hashes and acquisition instructions are included.</a:t>
            </a:r>
          </a:p>
          <a:p/>
          <a:p>
            <a:r>
              <a:t>Evidence: https://github.com/buffbeefalo/netmambaplus-reproduction/tree/main/docs/customer/evidence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github.com/buffbeefalo/netmambaplus-reproduction/tree/main/docs/custom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github.com/buffbeefalo/netmambaplus-reproduction/tree/main/docs/custome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https://github.com/buffbeefalo/netmambaplus-reproduction/tree/main/docs/custome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github.com/buffbeefalo/netmambaplus-reproduction/tree/main/docs/customer"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hyperlink" Target="https://github.com/buffbeefalo/netmambaplus-reproduction/tree/main/docs/custome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https://github.com/buffbeefalo/netmambaplus-reproduction/tree/main/docs/custome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hyperlink" Target="https://buffbeefalo.github.io/netmambaplus-reproduction/" TargetMode="External"/><Relationship Id="rId5" Type="http://schemas.openxmlformats.org/officeDocument/2006/relationships/hyperlink" Target="https://github.com/buffbeefalo/netmambaplus-reproduction/tree/main/docs/custome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github.com/buffbeefalo/netmambaplus-reproduction/tree/main/docs/custom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hyperlink" Target="https://github.com/buffbeefalo/netmambaplus-reproduction/tree/main/docs/custome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hyperlink" Target="https://github.com/buffbeefalo/netmambaplus-reproduction/tree/main/docs/customer"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github.com/buffbeefalo/netmambaplus-reproduction/tree/main/docs/custom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github.com/buffbeefalo/netmambaplus-reproduction/tree/main/docs/customer"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3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789920" cy="320040"/>
          </a:xfrm>
          <a:prstGeom prst="rect">
            <a:avLst/>
          </a:prstGeom>
          <a:noFill/>
        </p:spPr>
        <p:txBody>
          <a:bodyPr wrap="square" lIns="18288" rIns="18288" tIns="0" bIns="0">
            <a:spAutoFit/>
          </a:bodyPr>
          <a:lstStyle/>
          <a:p>
            <a:pPr>
              <a:spcAft>
                <a:spcPts val="900"/>
              </a:spcAft>
              <a:defRPr sz="1300" b="1">
                <a:solidFill>
                  <a:srgbClr val="85DBCB"/>
                </a:solidFill>
                <a:latin typeface="DejaVu Sans"/>
              </a:defRPr>
            </a:pPr>
            <a:r>
              <a:t>CUSTOMER RESEARCH BRIEFING</a:t>
            </a:r>
          </a:p>
        </p:txBody>
      </p:sp>
      <p:sp>
        <p:nvSpPr>
          <p:cNvPr id="4" name="TextBox 3"/>
          <p:cNvSpPr txBox="1"/>
          <p:nvPr/>
        </p:nvSpPr>
        <p:spPr>
          <a:xfrm>
            <a:off x="640080" y="1170432"/>
            <a:ext cx="10789920" cy="1737360"/>
          </a:xfrm>
          <a:prstGeom prst="rect">
            <a:avLst/>
          </a:prstGeom>
          <a:noFill/>
        </p:spPr>
        <p:txBody>
          <a:bodyPr wrap="square" lIns="18288" rIns="18288" tIns="0" bIns="0">
            <a:spAutoFit/>
          </a:bodyPr>
          <a:lstStyle/>
          <a:p>
            <a:pPr>
              <a:spcAft>
                <a:spcPts val="900"/>
              </a:spcAft>
              <a:defRPr sz="4300" b="0">
                <a:solidFill>
                  <a:srgbClr val="FFFFFF"/>
                </a:solidFill>
                <a:latin typeface="Liberation Serif"/>
              </a:defRPr>
            </a:pPr>
            <a:r>
              <a:t>NetMamba+</a:t>
            </a:r>
          </a:p>
          <a:p>
            <a:pPr>
              <a:spcAft>
                <a:spcPts val="900"/>
              </a:spcAft>
              <a:defRPr sz="4300" b="0">
                <a:solidFill>
                  <a:srgbClr val="FFFFFF"/>
                </a:solidFill>
                <a:latin typeface="Liberation Serif"/>
              </a:defRPr>
            </a:pPr>
            <a:r>
              <a:t>from source to a measured demo</a:t>
            </a:r>
          </a:p>
        </p:txBody>
      </p:sp>
      <p:sp>
        <p:nvSpPr>
          <p:cNvPr id="5" name="TextBox 4"/>
          <p:cNvSpPr txBox="1"/>
          <p:nvPr/>
        </p:nvSpPr>
        <p:spPr>
          <a:xfrm>
            <a:off x="640080" y="3108960"/>
            <a:ext cx="10652760" cy="594360"/>
          </a:xfrm>
          <a:prstGeom prst="rect">
            <a:avLst/>
          </a:prstGeom>
          <a:noFill/>
        </p:spPr>
        <p:txBody>
          <a:bodyPr wrap="square" lIns="18288" rIns="18288" tIns="0" bIns="0">
            <a:spAutoFit/>
          </a:bodyPr>
          <a:lstStyle/>
          <a:p>
            <a:pPr>
              <a:spcAft>
                <a:spcPts val="900"/>
              </a:spcAft>
              <a:defRPr sz="1900" b="0">
                <a:solidFill>
                  <a:srgbClr val="CCDBDE"/>
                </a:solidFill>
                <a:latin typeface="DejaVu Sans"/>
              </a:defRPr>
            </a:pPr>
            <a:r>
              <a:t>Actual GPU training, saved-classifier inference and a practical IDS roadmap</a:t>
            </a:r>
          </a:p>
        </p:txBody>
      </p:sp>
      <p:sp>
        <p:nvSpPr>
          <p:cNvPr id="6" name="Rectangle 5"/>
          <p:cNvSpPr/>
          <p:nvPr/>
        </p:nvSpPr>
        <p:spPr>
          <a:xfrm>
            <a:off x="640080" y="4160520"/>
            <a:ext cx="3474720" cy="1234440"/>
          </a:xfrm>
          <a:prstGeom prst="rect">
            <a:avLst/>
          </a:prstGeom>
          <a:solidFill>
            <a:srgbClr val="20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4279392"/>
            <a:ext cx="3127248" cy="548640"/>
          </a:xfrm>
          <a:prstGeom prst="rect">
            <a:avLst/>
          </a:prstGeom>
          <a:noFill/>
        </p:spPr>
        <p:txBody>
          <a:bodyPr wrap="square" lIns="18288" rIns="18288" tIns="0" bIns="0">
            <a:spAutoFit/>
          </a:bodyPr>
          <a:lstStyle/>
          <a:p>
            <a:pPr>
              <a:spcAft>
                <a:spcPts val="900"/>
              </a:spcAft>
              <a:defRPr sz="3300" b="1">
                <a:solidFill>
                  <a:srgbClr val="85DBCB"/>
                </a:solidFill>
                <a:latin typeface="DejaVu Sans"/>
              </a:defRPr>
            </a:pPr>
            <a:r>
              <a:t>3 × 120</a:t>
            </a:r>
          </a:p>
        </p:txBody>
      </p:sp>
      <p:sp>
        <p:nvSpPr>
          <p:cNvPr id="8" name="TextBox 7"/>
          <p:cNvSpPr txBox="1"/>
          <p:nvPr/>
        </p:nvSpPr>
        <p:spPr>
          <a:xfrm>
            <a:off x="822959" y="4928616"/>
            <a:ext cx="3127248" cy="411480"/>
          </a:xfrm>
          <a:prstGeom prst="rect">
            <a:avLst/>
          </a:prstGeom>
          <a:noFill/>
        </p:spPr>
        <p:txBody>
          <a:bodyPr wrap="square" lIns="18288" rIns="18288" tIns="0" bIns="0">
            <a:spAutoFit/>
          </a:bodyPr>
          <a:lstStyle/>
          <a:p>
            <a:pPr>
              <a:spcAft>
                <a:spcPts val="900"/>
              </a:spcAft>
              <a:defRPr sz="1300" b="0">
                <a:solidFill>
                  <a:srgbClr val="FFFFFF"/>
                </a:solidFill>
                <a:latin typeface="DejaVu Sans"/>
              </a:defRPr>
            </a:pPr>
            <a:r>
              <a:t>completed fine-tuning epochs</a:t>
            </a:r>
          </a:p>
        </p:txBody>
      </p:sp>
      <p:sp>
        <p:nvSpPr>
          <p:cNvPr id="9" name="Rectangle 8"/>
          <p:cNvSpPr/>
          <p:nvPr/>
        </p:nvSpPr>
        <p:spPr>
          <a:xfrm>
            <a:off x="4343400" y="4160520"/>
            <a:ext cx="3474720" cy="1234440"/>
          </a:xfrm>
          <a:prstGeom prst="rect">
            <a:avLst/>
          </a:prstGeom>
          <a:solidFill>
            <a:srgbClr val="20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279392"/>
            <a:ext cx="3127248" cy="548640"/>
          </a:xfrm>
          <a:prstGeom prst="rect">
            <a:avLst/>
          </a:prstGeom>
          <a:noFill/>
        </p:spPr>
        <p:txBody>
          <a:bodyPr wrap="square" lIns="18288" rIns="18288" tIns="0" bIns="0">
            <a:spAutoFit/>
          </a:bodyPr>
          <a:lstStyle/>
          <a:p>
            <a:pPr>
              <a:spcAft>
                <a:spcPts val="900"/>
              </a:spcAft>
              <a:defRPr sz="3300" b="1">
                <a:solidFill>
                  <a:srgbClr val="85DBCB"/>
                </a:solidFill>
                <a:latin typeface="DejaVu Sans"/>
              </a:defRPr>
            </a:pPr>
            <a:r>
              <a:t>86.65%</a:t>
            </a:r>
          </a:p>
        </p:txBody>
      </p:sp>
      <p:sp>
        <p:nvSpPr>
          <p:cNvPr id="11" name="TextBox 10"/>
          <p:cNvSpPr txBox="1"/>
          <p:nvPr/>
        </p:nvSpPr>
        <p:spPr>
          <a:xfrm>
            <a:off x="4526280" y="4928616"/>
            <a:ext cx="3127248" cy="411480"/>
          </a:xfrm>
          <a:prstGeom prst="rect">
            <a:avLst/>
          </a:prstGeom>
          <a:noFill/>
        </p:spPr>
        <p:txBody>
          <a:bodyPr wrap="square" lIns="18288" rIns="18288" tIns="0" bIns="0">
            <a:spAutoFit/>
          </a:bodyPr>
          <a:lstStyle/>
          <a:p>
            <a:pPr>
              <a:spcAft>
                <a:spcPts val="900"/>
              </a:spcAft>
              <a:defRPr sz="1300" b="0">
                <a:solidFill>
                  <a:srgbClr val="FFFFFF"/>
                </a:solidFill>
                <a:latin typeface="DejaVu Sans"/>
              </a:defRPr>
            </a:pPr>
            <a:r>
              <a:t>mean test accuracy · three seeds</a:t>
            </a:r>
          </a:p>
        </p:txBody>
      </p:sp>
      <p:sp>
        <p:nvSpPr>
          <p:cNvPr id="12" name="Rectangle 11"/>
          <p:cNvSpPr/>
          <p:nvPr/>
        </p:nvSpPr>
        <p:spPr>
          <a:xfrm>
            <a:off x="8046719" y="4160520"/>
            <a:ext cx="3474720" cy="1234440"/>
          </a:xfrm>
          <a:prstGeom prst="rect">
            <a:avLst/>
          </a:prstGeom>
          <a:solidFill>
            <a:srgbClr val="20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9" y="4279392"/>
            <a:ext cx="3127248" cy="548640"/>
          </a:xfrm>
          <a:prstGeom prst="rect">
            <a:avLst/>
          </a:prstGeom>
          <a:noFill/>
        </p:spPr>
        <p:txBody>
          <a:bodyPr wrap="square" lIns="18288" rIns="18288" tIns="0" bIns="0">
            <a:spAutoFit/>
          </a:bodyPr>
          <a:lstStyle/>
          <a:p>
            <a:pPr>
              <a:spcAft>
                <a:spcPts val="900"/>
              </a:spcAft>
              <a:defRPr sz="3300" b="1">
                <a:solidFill>
                  <a:srgbClr val="85DBCB"/>
                </a:solidFill>
                <a:latin typeface="DejaVu Sans"/>
              </a:defRPr>
            </a:pPr>
            <a:r>
              <a:t>1,041</a:t>
            </a:r>
          </a:p>
        </p:txBody>
      </p:sp>
      <p:sp>
        <p:nvSpPr>
          <p:cNvPr id="14" name="TextBox 13"/>
          <p:cNvSpPr txBox="1"/>
          <p:nvPr/>
        </p:nvSpPr>
        <p:spPr>
          <a:xfrm>
            <a:off x="8229599" y="4928616"/>
            <a:ext cx="3127248" cy="411480"/>
          </a:xfrm>
          <a:prstGeom prst="rect">
            <a:avLst/>
          </a:prstGeom>
          <a:noFill/>
        </p:spPr>
        <p:txBody>
          <a:bodyPr wrap="square" lIns="18288" rIns="18288" tIns="0" bIns="0">
            <a:spAutoFit/>
          </a:bodyPr>
          <a:lstStyle/>
          <a:p>
            <a:pPr>
              <a:spcAft>
                <a:spcPts val="900"/>
              </a:spcAft>
              <a:defRPr sz="1300" b="0">
                <a:solidFill>
                  <a:srgbClr val="FFFFFF"/>
                </a:solidFill>
                <a:latin typeface="DejaVu Sans"/>
              </a:defRPr>
            </a:pPr>
            <a:r>
              <a:t>flows in the fixed test split</a:t>
            </a:r>
          </a:p>
        </p:txBody>
      </p:sp>
      <p:sp>
        <p:nvSpPr>
          <p:cNvPr id="15" name="TextBox 14"/>
          <p:cNvSpPr txBox="1"/>
          <p:nvPr/>
        </p:nvSpPr>
        <p:spPr>
          <a:xfrm>
            <a:off x="640080" y="5852160"/>
            <a:ext cx="10881360" cy="548640"/>
          </a:xfrm>
          <a:prstGeom prst="rect">
            <a:avLst/>
          </a:prstGeom>
          <a:noFill/>
        </p:spPr>
        <p:txBody>
          <a:bodyPr wrap="square" lIns="18288" rIns="18288" tIns="0" bIns="0">
            <a:spAutoFit/>
          </a:bodyPr>
          <a:lstStyle/>
          <a:p>
            <a:pPr>
              <a:spcAft>
                <a:spcPts val="900"/>
              </a:spcAft>
              <a:defRPr sz="1400" b="0">
                <a:solidFill>
                  <a:srgbClr val="CCDBDE"/>
                </a:solidFill>
                <a:latin typeface="DejaVu Sans"/>
              </a:defRPr>
            </a:pPr>
            <a:r>
              <a:t>Source-based fine-tuning on a GB10 compatibility port. Exact paper reproduction remains unestablished.</a:t>
            </a:r>
          </a:p>
        </p:txBody>
      </p:sp>
      <p:sp>
        <p:nvSpPr>
          <p:cNvPr id="16" name="TextBox 15"/>
          <p:cNvSpPr txBox="1"/>
          <p:nvPr/>
        </p:nvSpPr>
        <p:spPr>
          <a:xfrm>
            <a:off x="640080" y="6446520"/>
            <a:ext cx="4572000" cy="182880"/>
          </a:xfrm>
          <a:prstGeom prst="rect">
            <a:avLst/>
          </a:prstGeom>
          <a:noFill/>
        </p:spPr>
        <p:txBody>
          <a:bodyPr wrap="square" lIns="18288" rIns="18288" tIns="0" bIns="0">
            <a:spAutoFit/>
          </a:bodyPr>
          <a:lstStyle/>
          <a:p>
            <a:pPr>
              <a:spcAft>
                <a:spcPts val="900"/>
              </a:spcAft>
              <a:defRPr sz="1000" b="0">
                <a:solidFill>
                  <a:srgbClr val="CCDBDE"/>
                </a:solidFill>
                <a:latin typeface="DejaVu Sans"/>
              </a:defRPr>
            </a:pPr>
            <a:r>
              <a:t>15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38328"/>
            <a:ext cx="10789920" cy="274320"/>
          </a:xfrm>
          <a:prstGeom prst="rect">
            <a:avLst/>
          </a:prstGeom>
          <a:noFill/>
        </p:spPr>
        <p:txBody>
          <a:bodyPr wrap="square" lIns="18288" rIns="18288" tIns="0" bIns="0">
            <a:spAutoFit/>
          </a:bodyPr>
          <a:lstStyle/>
          <a:p>
            <a:pPr>
              <a:spcAft>
                <a:spcPts val="900"/>
              </a:spcAft>
              <a:defRPr sz="1100" b="1">
                <a:solidFill>
                  <a:srgbClr val="007C78"/>
                </a:solidFill>
                <a:latin typeface="DejaVu Sans"/>
              </a:defRPr>
            </a:pPr>
            <a:r>
              <a:t>01 / WHAT WAS ACTUALLY TRIED</a:t>
            </a:r>
          </a:p>
        </p:txBody>
      </p:sp>
      <p:sp>
        <p:nvSpPr>
          <p:cNvPr id="4" name="TextBox 3"/>
          <p:cNvSpPr txBox="1"/>
          <p:nvPr/>
        </p:nvSpPr>
        <p:spPr>
          <a:xfrm>
            <a:off x="594360" y="841248"/>
            <a:ext cx="10972800" cy="621792"/>
          </a:xfrm>
          <a:prstGeom prst="rect">
            <a:avLst/>
          </a:prstGeom>
          <a:noFill/>
        </p:spPr>
        <p:txBody>
          <a:bodyPr wrap="square" lIns="18288" rIns="18288" tIns="0" bIns="0">
            <a:spAutoFit/>
          </a:bodyPr>
          <a:lstStyle/>
          <a:p>
            <a:pPr>
              <a:spcAft>
                <a:spcPts val="900"/>
              </a:spcAft>
              <a:defRPr sz="3400" b="0">
                <a:solidFill>
                  <a:srgbClr val="132C38"/>
                </a:solidFill>
                <a:latin typeface="Liberation Serif"/>
              </a:defRPr>
            </a:pPr>
            <a:r>
              <a:t>From an untested harness to GPU evidence</a:t>
            </a:r>
          </a:p>
        </p:txBody>
      </p:sp>
      <p:sp>
        <p:nvSpPr>
          <p:cNvPr id="5" name="TextBox 4"/>
          <p:cNvSpPr txBox="1"/>
          <p:nvPr/>
        </p:nvSpPr>
        <p:spPr>
          <a:xfrm>
            <a:off x="594360" y="1600200"/>
            <a:ext cx="10881360" cy="548640"/>
          </a:xfrm>
          <a:prstGeom prst="rect">
            <a:avLst/>
          </a:prstGeom>
          <a:noFill/>
        </p:spPr>
        <p:txBody>
          <a:bodyPr wrap="square" lIns="18288" rIns="18288" tIns="0" bIns="0">
            <a:spAutoFit/>
          </a:bodyPr>
          <a:lstStyle/>
          <a:p>
            <a:pPr>
              <a:spcAft>
                <a:spcPts val="900"/>
              </a:spcAft>
              <a:defRPr sz="1600" b="0">
                <a:solidFill>
                  <a:srgbClr val="516774"/>
                </a:solidFill>
                <a:latin typeface="DejaVu Sans"/>
              </a:defRPr>
            </a:pPr>
            <a:r>
              <a:t>The work includes failures, fixes and a repeatable installation rehearsal.</a:t>
            </a:r>
          </a:p>
        </p:txBody>
      </p:sp>
      <p:sp>
        <p:nvSpPr>
          <p:cNvPr id="6" name="Rectangle 5"/>
          <p:cNvSpPr/>
          <p:nvPr/>
        </p:nvSpPr>
        <p:spPr>
          <a:xfrm>
            <a:off x="5943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Runtime</a:t>
            </a:r>
          </a:p>
        </p:txBody>
      </p:sp>
      <p:sp>
        <p:nvSpPr>
          <p:cNvPr id="9" name="TextBox 8"/>
          <p:cNvSpPr txBox="1"/>
          <p:nvPr/>
        </p:nvSpPr>
        <p:spPr>
          <a:xfrm>
            <a:off x="795528" y="3264408"/>
            <a:ext cx="3130296"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Built the authors' Mamba fork and causal convolution for GB10.</a:t>
            </a:r>
          </a:p>
          <a:p>
            <a:pPr>
              <a:spcAft>
                <a:spcPts val="900"/>
              </a:spcAft>
              <a:defRPr sz="1700" b="0">
                <a:solidFill>
                  <a:srgbClr val="132C38"/>
                </a:solidFill>
                <a:latin typeface="DejaVu Sans"/>
              </a:defRPr>
            </a:pPr>
            <a:r>
              <a:t>Seven forward/backward checks passed in two isolated environments.</a:t>
            </a:r>
          </a:p>
        </p:txBody>
      </p:sp>
      <p:sp>
        <p:nvSpPr>
          <p:cNvPr id="10" name="Rectangle 9"/>
          <p:cNvSpPr/>
          <p:nvPr/>
        </p:nvSpPr>
        <p:spPr>
          <a:xfrm>
            <a:off x="43281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81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93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Training</a:t>
            </a:r>
          </a:p>
        </p:txBody>
      </p:sp>
      <p:sp>
        <p:nvSpPr>
          <p:cNvPr id="13" name="TextBox 12"/>
          <p:cNvSpPr txBox="1"/>
          <p:nvPr/>
        </p:nvSpPr>
        <p:spPr>
          <a:xfrm>
            <a:off x="4529328" y="3264408"/>
            <a:ext cx="3130296"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Masked pretraining: 132 updates on training-only flows.</a:t>
            </a:r>
          </a:p>
          <a:p>
            <a:pPr>
              <a:spcAft>
                <a:spcPts val="900"/>
              </a:spcAft>
              <a:defRPr sz="1700" b="0">
                <a:solidFill>
                  <a:srgbClr val="132C38"/>
                </a:solidFill>
                <a:latin typeface="DejaVu Sans"/>
              </a:defRPr>
            </a:pPr>
            <a:r>
              <a:t>Fine-tuning: three seeds, 120 epochs and 7,920 updates each.</a:t>
            </a:r>
          </a:p>
        </p:txBody>
      </p:sp>
      <p:sp>
        <p:nvSpPr>
          <p:cNvPr id="14" name="Rectangle 13"/>
          <p:cNvSpPr/>
          <p:nvPr/>
        </p:nvSpPr>
        <p:spPr>
          <a:xfrm>
            <a:off x="80619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19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31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Inference</a:t>
            </a:r>
          </a:p>
        </p:txBody>
      </p:sp>
      <p:sp>
        <p:nvSpPr>
          <p:cNvPr id="17" name="TextBox 16"/>
          <p:cNvSpPr txBox="1"/>
          <p:nvPr/>
        </p:nvSpPr>
        <p:spPr>
          <a:xfrm>
            <a:off x="8263128" y="3264408"/>
            <a:ext cx="3130296"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Strictly reloaded the selected classifiers.</a:t>
            </a:r>
          </a:p>
          <a:p>
            <a:pPr>
              <a:spcAft>
                <a:spcPts val="900"/>
              </a:spcAft>
              <a:defRPr sz="1700" b="0">
                <a:solidFill>
                  <a:srgbClr val="132C38"/>
                </a:solidFill>
                <a:latin typeface="DejaVu Sans"/>
              </a:defRPr>
            </a:pPr>
            <a:r>
              <a:t>Recomputed confusion matrices and metrics from saved predictions.</a:t>
            </a:r>
          </a:p>
          <a:p>
            <a:pPr>
              <a:spcAft>
                <a:spcPts val="900"/>
              </a:spcAft>
              <a:defRPr sz="1700" b="0">
                <a:solidFill>
                  <a:srgbClr val="132C38"/>
                </a:solidFill>
                <a:latin typeface="DejaVu Sans"/>
              </a:defRPr>
            </a:pPr>
            <a:r>
              <a:t>Built an offline replay.</a:t>
            </a:r>
          </a:p>
        </p:txBody>
      </p:sp>
      <p:sp>
        <p:nvSpPr>
          <p:cNvPr id="18" name="Rectangle 17"/>
          <p:cNvSpPr/>
          <p:nvPr/>
        </p:nvSpPr>
        <p:spPr>
          <a:xfrm>
            <a:off x="594360" y="5806440"/>
            <a:ext cx="11000232" cy="512064"/>
          </a:xfrm>
          <a:prstGeom prst="rect">
            <a:avLst/>
          </a:prstGeom>
          <a:solidFill>
            <a:srgbClr val="E0E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97880"/>
            <a:ext cx="10735056" cy="365760"/>
          </a:xfrm>
          <a:prstGeom prst="rect">
            <a:avLst/>
          </a:prstGeom>
          <a:noFill/>
        </p:spPr>
        <p:txBody>
          <a:bodyPr wrap="square" lIns="18288" rIns="18288" tIns="0" bIns="0">
            <a:spAutoFit/>
          </a:bodyPr>
          <a:lstStyle/>
          <a:p>
            <a:pPr>
              <a:spcAft>
                <a:spcPts val="900"/>
              </a:spcAft>
              <a:defRPr sz="1250" b="0">
                <a:solidFill>
                  <a:srgbClr val="132C38"/>
                </a:solidFill>
                <a:latin typeface="DejaVu Sans"/>
              </a:defRPr>
            </a:pPr>
            <a:r>
              <a:t>Commands, hashes, losses and prediction records are published alongside the explanation.</a:t>
            </a:r>
          </a:p>
        </p:txBody>
      </p:sp>
      <p:sp>
        <p:nvSpPr>
          <p:cNvPr id="20" name="TextBox 19"/>
          <p:cNvSpPr txBox="1"/>
          <p:nvPr/>
        </p:nvSpPr>
        <p:spPr>
          <a:xfrm>
            <a:off x="594360" y="6519672"/>
            <a:ext cx="10424160" cy="182880"/>
          </a:xfrm>
          <a:prstGeom prst="rect">
            <a:avLst/>
          </a:prstGeom>
          <a:noFill/>
        </p:spPr>
        <p:txBody>
          <a:bodyPr wrap="square" lIns="18288" rIns="18288" tIns="0" bIns="0">
            <a:spAutoFit/>
          </a:bodyPr>
          <a:lstStyle/>
          <a:p>
            <a:pPr>
              <a:spcAft>
                <a:spcPts val="900"/>
              </a:spcAft>
              <a:defRPr sz="900" b="0">
                <a:solidFill>
                  <a:srgbClr val="516774"/>
                </a:solidFill>
                <a:latin typeface="DejaVu Sans"/>
              </a:defRPr>
            </a:pPr>
            <a:r>
              <a:rPr>
                <a:hlinkClick r:id="rId3"/>
              </a:rPr>
              <a:t>NETMAMBA+  /  MEASURED RESEARCH  /  15 September 2026</a:t>
            </a:r>
          </a:p>
        </p:txBody>
      </p:sp>
      <p:sp>
        <p:nvSpPr>
          <p:cNvPr id="21" name="TextBox 20"/>
          <p:cNvSpPr txBox="1"/>
          <p:nvPr/>
        </p:nvSpPr>
        <p:spPr>
          <a:xfrm>
            <a:off x="11155680" y="6473952"/>
            <a:ext cx="457200" cy="228600"/>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38328"/>
            <a:ext cx="10789920" cy="274320"/>
          </a:xfrm>
          <a:prstGeom prst="rect">
            <a:avLst/>
          </a:prstGeom>
          <a:noFill/>
        </p:spPr>
        <p:txBody>
          <a:bodyPr wrap="square" lIns="18288" rIns="18288" tIns="0" bIns="0">
            <a:spAutoFit/>
          </a:bodyPr>
          <a:lstStyle/>
          <a:p>
            <a:pPr>
              <a:spcAft>
                <a:spcPts val="900"/>
              </a:spcAft>
              <a:defRPr sz="1100" b="1">
                <a:solidFill>
                  <a:srgbClr val="007C78"/>
                </a:solidFill>
                <a:latin typeface="DejaVu Sans"/>
              </a:defRPr>
            </a:pPr>
            <a:r>
              <a:t>02 / INPUTS AND OUTPUTS</a:t>
            </a:r>
          </a:p>
        </p:txBody>
      </p:sp>
      <p:sp>
        <p:nvSpPr>
          <p:cNvPr id="4" name="TextBox 3"/>
          <p:cNvSpPr txBox="1"/>
          <p:nvPr/>
        </p:nvSpPr>
        <p:spPr>
          <a:xfrm>
            <a:off x="594360" y="841248"/>
            <a:ext cx="10972800" cy="621792"/>
          </a:xfrm>
          <a:prstGeom prst="rect">
            <a:avLst/>
          </a:prstGeom>
          <a:noFill/>
        </p:spPr>
        <p:txBody>
          <a:bodyPr wrap="square" lIns="18288" rIns="18288" tIns="0" bIns="0">
            <a:spAutoFit/>
          </a:bodyPr>
          <a:lstStyle/>
          <a:p>
            <a:pPr>
              <a:spcAft>
                <a:spcPts val="900"/>
              </a:spcAft>
              <a:defRPr sz="3400" b="0">
                <a:solidFill>
                  <a:srgbClr val="132C38"/>
                </a:solidFill>
                <a:latin typeface="Liberation Serif"/>
              </a:defRPr>
            </a:pPr>
            <a:r>
              <a:t>One prediction describes one flow</a:t>
            </a:r>
          </a:p>
        </p:txBody>
      </p:sp>
      <p:sp>
        <p:nvSpPr>
          <p:cNvPr id="5" name="TextBox 4"/>
          <p:cNvSpPr txBox="1"/>
          <p:nvPr/>
        </p:nvSpPr>
        <p:spPr>
          <a:xfrm>
            <a:off x="594360" y="1600200"/>
            <a:ext cx="10881360" cy="548640"/>
          </a:xfrm>
          <a:prstGeom prst="rect">
            <a:avLst/>
          </a:prstGeom>
          <a:noFill/>
        </p:spPr>
        <p:txBody>
          <a:bodyPr wrap="square" lIns="18288" rIns="18288" tIns="0" bIns="0">
            <a:spAutoFit/>
          </a:bodyPr>
          <a:lstStyle/>
          <a:p>
            <a:pPr>
              <a:spcAft>
                <a:spcPts val="900"/>
              </a:spcAft>
              <a:defRPr sz="1600" b="0">
                <a:solidFill>
                  <a:srgbClr val="516774"/>
                </a:solidFill>
                <a:latin typeface="DejaVu Sans"/>
              </a:defRPr>
            </a:pPr>
            <a:r>
              <a:t>The uploaded packet CSVs cannot establish this ordered, multimodal flow representation.</a:t>
            </a:r>
          </a:p>
        </p:txBody>
      </p:sp>
      <p:sp>
        <p:nvSpPr>
          <p:cNvPr id="6" name="Rectangle 5"/>
          <p:cNvSpPr/>
          <p:nvPr/>
        </p:nvSpPr>
        <p:spPr>
          <a:xfrm>
            <a:off x="5943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Byte content</a:t>
            </a:r>
          </a:p>
        </p:txBody>
      </p:sp>
      <p:sp>
        <p:nvSpPr>
          <p:cNvPr id="9" name="TextBox 8"/>
          <p:cNvSpPr txBox="1"/>
          <p:nvPr/>
        </p:nvSpPr>
        <p:spPr>
          <a:xfrm>
            <a:off x="795528" y="3264408"/>
            <a:ext cx="3130296"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First 5 packets × 320 bytes</a:t>
            </a:r>
          </a:p>
          <a:p>
            <a:pPr>
              <a:spcAft>
                <a:spcPts val="900"/>
              </a:spcAft>
              <a:defRPr sz="1700" b="0">
                <a:solidFill>
                  <a:srgbClr val="132C38"/>
                </a:solidFill>
                <a:latin typeface="DejaVu Sans"/>
              </a:defRPr>
            </a:pPr>
            <a:r>
              <a:t>Tensor: [B, 1, 1, 1600]</a:t>
            </a:r>
          </a:p>
          <a:p>
            <a:pPr>
              <a:spcAft>
                <a:spcPts val="900"/>
              </a:spcAft>
              <a:defRPr sz="1700" b="0">
                <a:solidFill>
                  <a:srgbClr val="132C38"/>
                </a:solidFill>
                <a:latin typeface="DejaVu Sans"/>
              </a:defRPr>
            </a:pPr>
            <a:r>
              <a:t>400 embedded byte strides</a:t>
            </a:r>
          </a:p>
        </p:txBody>
      </p:sp>
      <p:sp>
        <p:nvSpPr>
          <p:cNvPr id="10" name="Rectangle 9"/>
          <p:cNvSpPr/>
          <p:nvPr/>
        </p:nvSpPr>
        <p:spPr>
          <a:xfrm>
            <a:off x="43281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81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93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Packet sizes</a:t>
            </a:r>
          </a:p>
        </p:txBody>
      </p:sp>
      <p:sp>
        <p:nvSpPr>
          <p:cNvPr id="13" name="TextBox 12"/>
          <p:cNvSpPr txBox="1"/>
          <p:nvPr/>
        </p:nvSpPr>
        <p:spPr>
          <a:xfrm>
            <a:off x="4529328" y="3264408"/>
            <a:ext cx="3130296"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First 20 values</a:t>
            </a:r>
          </a:p>
          <a:p>
            <a:pPr>
              <a:spcAft>
                <a:spcPts val="900"/>
              </a:spcAft>
              <a:defRPr sz="1700" b="0">
                <a:solidFill>
                  <a:srgbClr val="132C38"/>
                </a:solidFill>
                <a:latin typeface="DejaVu Sans"/>
              </a:defRPr>
            </a:pPr>
            <a:r>
              <a:t>Native clipping and padding</a:t>
            </a:r>
          </a:p>
          <a:p>
            <a:pPr>
              <a:spcAft>
                <a:spcPts val="900"/>
              </a:spcAft>
              <a:defRPr sz="1700" b="0">
                <a:solidFill>
                  <a:srgbClr val="132C38"/>
                </a:solidFill>
                <a:latin typeface="DejaVu Sans"/>
              </a:defRPr>
            </a:pPr>
            <a:r>
              <a:t>20 size tokens</a:t>
            </a:r>
          </a:p>
        </p:txBody>
      </p:sp>
      <p:sp>
        <p:nvSpPr>
          <p:cNvPr id="14" name="Rectangle 13"/>
          <p:cNvSpPr/>
          <p:nvPr/>
        </p:nvSpPr>
        <p:spPr>
          <a:xfrm>
            <a:off x="80619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19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31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Arrival intervals</a:t>
            </a:r>
          </a:p>
        </p:txBody>
      </p:sp>
      <p:sp>
        <p:nvSpPr>
          <p:cNvPr id="17" name="TextBox 16"/>
          <p:cNvSpPr txBox="1"/>
          <p:nvPr/>
        </p:nvSpPr>
        <p:spPr>
          <a:xfrm>
            <a:off x="8263128" y="3264408"/>
            <a:ext cx="3130296"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First 20 values</a:t>
            </a:r>
          </a:p>
          <a:p>
            <a:pPr>
              <a:spcAft>
                <a:spcPts val="900"/>
              </a:spcAft>
              <a:defRPr sz="1700" b="0">
                <a:solidFill>
                  <a:srgbClr val="132C38"/>
                </a:solidFill>
                <a:latin typeface="DejaVu Sans"/>
              </a:defRPr>
            </a:pPr>
            <a:r>
              <a:t>Native monotonic transform</a:t>
            </a:r>
          </a:p>
          <a:p>
            <a:pPr>
              <a:spcAft>
                <a:spcPts val="900"/>
              </a:spcAft>
              <a:defRPr sz="1700" b="0">
                <a:solidFill>
                  <a:srgbClr val="132C38"/>
                </a:solidFill>
                <a:latin typeface="DejaVu Sans"/>
              </a:defRPr>
            </a:pPr>
            <a:r>
              <a:t>20 interval tokens</a:t>
            </a:r>
          </a:p>
        </p:txBody>
      </p:sp>
      <p:sp>
        <p:nvSpPr>
          <p:cNvPr id="18" name="Rectangle 17"/>
          <p:cNvSpPr/>
          <p:nvPr/>
        </p:nvSpPr>
        <p:spPr>
          <a:xfrm>
            <a:off x="594360" y="5806440"/>
            <a:ext cx="11000232" cy="512064"/>
          </a:xfrm>
          <a:prstGeom prst="rect">
            <a:avLst/>
          </a:prstGeom>
          <a:solidFill>
            <a:srgbClr val="E0E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97880"/>
            <a:ext cx="10735056" cy="365760"/>
          </a:xfrm>
          <a:prstGeom prst="rect">
            <a:avLst/>
          </a:prstGeom>
          <a:noFill/>
        </p:spPr>
        <p:txBody>
          <a:bodyPr wrap="square" lIns="18288" rIns="18288" tIns="0" bIns="0">
            <a:spAutoFit/>
          </a:bodyPr>
          <a:lstStyle/>
          <a:p>
            <a:pPr>
              <a:spcAft>
                <a:spcPts val="900"/>
              </a:spcAft>
              <a:defRPr sz="1250" b="0">
                <a:solidFill>
                  <a:srgbClr val="132C38"/>
                </a:solidFill>
                <a:latin typeface="DejaVu Sans"/>
              </a:defRPr>
            </a:pPr>
            <a:r>
              <a:t>443 tokens → four Mamba blocks → three summed summary vectors → six class logits</a:t>
            </a:r>
          </a:p>
        </p:txBody>
      </p:sp>
      <p:sp>
        <p:nvSpPr>
          <p:cNvPr id="20" name="TextBox 19"/>
          <p:cNvSpPr txBox="1"/>
          <p:nvPr/>
        </p:nvSpPr>
        <p:spPr>
          <a:xfrm>
            <a:off x="594360" y="6519672"/>
            <a:ext cx="10424160" cy="182880"/>
          </a:xfrm>
          <a:prstGeom prst="rect">
            <a:avLst/>
          </a:prstGeom>
          <a:noFill/>
        </p:spPr>
        <p:txBody>
          <a:bodyPr wrap="square" lIns="18288" rIns="18288" tIns="0" bIns="0">
            <a:spAutoFit/>
          </a:bodyPr>
          <a:lstStyle/>
          <a:p>
            <a:pPr>
              <a:spcAft>
                <a:spcPts val="900"/>
              </a:spcAft>
              <a:defRPr sz="900" b="0">
                <a:solidFill>
                  <a:srgbClr val="516774"/>
                </a:solidFill>
                <a:latin typeface="DejaVu Sans"/>
              </a:defRPr>
            </a:pPr>
            <a:r>
              <a:rPr>
                <a:hlinkClick r:id="rId3"/>
              </a:rPr>
              <a:t>NETMAMBA+  /  MEASURED RESEARCH  /  15 September 2026</a:t>
            </a:r>
          </a:p>
        </p:txBody>
      </p:sp>
      <p:sp>
        <p:nvSpPr>
          <p:cNvPr id="21" name="TextBox 20"/>
          <p:cNvSpPr txBox="1"/>
          <p:nvPr/>
        </p:nvSpPr>
        <p:spPr>
          <a:xfrm>
            <a:off x="11155680" y="6473952"/>
            <a:ext cx="457200" cy="228600"/>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38328"/>
            <a:ext cx="10789920" cy="274320"/>
          </a:xfrm>
          <a:prstGeom prst="rect">
            <a:avLst/>
          </a:prstGeom>
          <a:noFill/>
        </p:spPr>
        <p:txBody>
          <a:bodyPr wrap="square" lIns="18288" rIns="18288" tIns="0" bIns="0">
            <a:spAutoFit/>
          </a:bodyPr>
          <a:lstStyle/>
          <a:p>
            <a:pPr>
              <a:spcAft>
                <a:spcPts val="900"/>
              </a:spcAft>
              <a:defRPr sz="1100" b="1">
                <a:solidFill>
                  <a:srgbClr val="007C78"/>
                </a:solidFill>
                <a:latin typeface="DejaVu Sans"/>
              </a:defRPr>
            </a:pPr>
            <a:r>
              <a:t>03 / HOW LEARNING WORKS</a:t>
            </a:r>
          </a:p>
        </p:txBody>
      </p:sp>
      <p:sp>
        <p:nvSpPr>
          <p:cNvPr id="4" name="TextBox 3"/>
          <p:cNvSpPr txBox="1"/>
          <p:nvPr/>
        </p:nvSpPr>
        <p:spPr>
          <a:xfrm>
            <a:off x="594360" y="841248"/>
            <a:ext cx="10972800" cy="621792"/>
          </a:xfrm>
          <a:prstGeom prst="rect">
            <a:avLst/>
          </a:prstGeom>
          <a:noFill/>
        </p:spPr>
        <p:txBody>
          <a:bodyPr wrap="square" lIns="18288" rIns="18288" tIns="0" bIns="0">
            <a:spAutoFit/>
          </a:bodyPr>
          <a:lstStyle/>
          <a:p>
            <a:pPr>
              <a:spcAft>
                <a:spcPts val="900"/>
              </a:spcAft>
              <a:defRPr sz="3400" b="0">
                <a:solidFill>
                  <a:srgbClr val="132C38"/>
                </a:solidFill>
                <a:latin typeface="Liberation Serif"/>
              </a:defRPr>
            </a:pPr>
            <a:r>
              <a:t>Three stages, three different questions</a:t>
            </a:r>
          </a:p>
        </p:txBody>
      </p:sp>
      <p:sp>
        <p:nvSpPr>
          <p:cNvPr id="5" name="TextBox 4"/>
          <p:cNvSpPr txBox="1"/>
          <p:nvPr/>
        </p:nvSpPr>
        <p:spPr>
          <a:xfrm>
            <a:off x="594360" y="1600200"/>
            <a:ext cx="10881360" cy="548640"/>
          </a:xfrm>
          <a:prstGeom prst="rect">
            <a:avLst/>
          </a:prstGeom>
          <a:noFill/>
        </p:spPr>
        <p:txBody>
          <a:bodyPr wrap="square" lIns="18288" rIns="18288" tIns="0" bIns="0">
            <a:spAutoFit/>
          </a:bodyPr>
          <a:lstStyle/>
          <a:p>
            <a:pPr>
              <a:spcAft>
                <a:spcPts val="900"/>
              </a:spcAft>
              <a:defRPr sz="1600" b="0">
                <a:solidFill>
                  <a:srgbClr val="516774"/>
                </a:solidFill>
                <a:latin typeface="DejaVu Sans"/>
              </a:defRPr>
            </a:pPr>
            <a:r>
              <a:t>A pretraining checkpoint becomes a classifier only after supervised fine-tuning.</a:t>
            </a:r>
          </a:p>
        </p:txBody>
      </p:sp>
      <p:sp>
        <p:nvSpPr>
          <p:cNvPr id="6" name="Rectangle 5"/>
          <p:cNvSpPr/>
          <p:nvPr/>
        </p:nvSpPr>
        <p:spPr>
          <a:xfrm>
            <a:off x="5943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1 · Pretrain</a:t>
            </a:r>
          </a:p>
        </p:txBody>
      </p:sp>
      <p:sp>
        <p:nvSpPr>
          <p:cNvPr id="9" name="TextBox 8"/>
          <p:cNvSpPr txBox="1"/>
          <p:nvPr/>
        </p:nvSpPr>
        <p:spPr>
          <a:xfrm>
            <a:off x="795528" y="3264408"/>
            <a:ext cx="3130296"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Hide byte, size and timing entries.</a:t>
            </a:r>
          </a:p>
          <a:p>
            <a:pPr>
              <a:spcAft>
                <a:spcPts val="900"/>
              </a:spcAft>
              <a:defRPr sz="1700" b="0">
                <a:solidFill>
                  <a:srgbClr val="132C38"/>
                </a:solidFill>
                <a:latin typeface="DejaVu Sans"/>
              </a:defRPr>
            </a:pPr>
            <a:r>
              <a:t>Reconstruct the missing content.</a:t>
            </a:r>
          </a:p>
          <a:p>
            <a:pPr>
              <a:spcAft>
                <a:spcPts val="900"/>
              </a:spcAft>
              <a:defRPr sz="1700" b="0">
                <a:solidFill>
                  <a:srgbClr val="132C38"/>
                </a:solidFill>
                <a:latin typeface="DejaVu Sans"/>
              </a:defRPr>
            </a:pPr>
            <a:r>
              <a:t>Learn an encoder without attack-category targets.</a:t>
            </a:r>
          </a:p>
        </p:txBody>
      </p:sp>
      <p:sp>
        <p:nvSpPr>
          <p:cNvPr id="10" name="Rectangle 9"/>
          <p:cNvSpPr/>
          <p:nvPr/>
        </p:nvSpPr>
        <p:spPr>
          <a:xfrm>
            <a:off x="43281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81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93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2 · Fine-tune</a:t>
            </a:r>
          </a:p>
        </p:txBody>
      </p:sp>
      <p:sp>
        <p:nvSpPr>
          <p:cNvPr id="13" name="TextBox 12"/>
          <p:cNvSpPr txBox="1"/>
          <p:nvPr/>
        </p:nvSpPr>
        <p:spPr>
          <a:xfrm>
            <a:off x="4529328" y="3264408"/>
            <a:ext cx="3130296"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Load the pretrained encoder.</a:t>
            </a:r>
          </a:p>
          <a:p>
            <a:pPr>
              <a:spcAft>
                <a:spcPts val="900"/>
              </a:spcAft>
              <a:defRPr sz="1700" b="0">
                <a:solidFill>
                  <a:srgbClr val="132C38"/>
                </a:solidFill>
                <a:latin typeface="DejaVu Sans"/>
              </a:defRPr>
            </a:pPr>
            <a:r>
              <a:t>Learn six labeled categories.</a:t>
            </a:r>
          </a:p>
          <a:p>
            <a:pPr>
              <a:spcAft>
                <a:spcPts val="900"/>
              </a:spcAft>
              <a:defRPr sz="1700" b="0">
                <a:solidFill>
                  <a:srgbClr val="132C38"/>
                </a:solidFill>
                <a:latin typeface="DejaVu Sans"/>
              </a:defRPr>
            </a:pPr>
            <a:r>
              <a:t>Select the checkpoint using validation accuracy.</a:t>
            </a:r>
          </a:p>
        </p:txBody>
      </p:sp>
      <p:sp>
        <p:nvSpPr>
          <p:cNvPr id="14" name="Rectangle 13"/>
          <p:cNvSpPr/>
          <p:nvPr/>
        </p:nvSpPr>
        <p:spPr>
          <a:xfrm>
            <a:off x="80619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19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31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3 · Infer</a:t>
            </a:r>
          </a:p>
        </p:txBody>
      </p:sp>
      <p:sp>
        <p:nvSpPr>
          <p:cNvPr id="17" name="TextBox 16"/>
          <p:cNvSpPr txBox="1"/>
          <p:nvPr/>
        </p:nvSpPr>
        <p:spPr>
          <a:xfrm>
            <a:off x="8263128" y="3264408"/>
            <a:ext cx="3130296"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Freeze the selected classifier.</a:t>
            </a:r>
          </a:p>
          <a:p>
            <a:pPr>
              <a:spcAft>
                <a:spcPts val="900"/>
              </a:spcAft>
              <a:defRPr sz="1700" b="0">
                <a:solidFill>
                  <a:srgbClr val="132C38"/>
                </a:solidFill>
                <a:latin typeface="DejaVu Sans"/>
              </a:defRPr>
            </a:pPr>
            <a:r>
              <a:t>Load weights and class meanings strictly.</a:t>
            </a:r>
          </a:p>
          <a:p>
            <a:pPr>
              <a:spcAft>
                <a:spcPts val="900"/>
              </a:spcAft>
              <a:defRPr sz="1700" b="0">
                <a:solidFill>
                  <a:srgbClr val="132C38"/>
                </a:solidFill>
                <a:latin typeface="DejaVu Sans"/>
              </a:defRPr>
            </a:pPr>
            <a:r>
              <a:t>Emit six scores and a predicted label.</a:t>
            </a:r>
          </a:p>
        </p:txBody>
      </p:sp>
      <p:sp>
        <p:nvSpPr>
          <p:cNvPr id="18" name="Rectangle 17"/>
          <p:cNvSpPr/>
          <p:nvPr/>
        </p:nvSpPr>
        <p:spPr>
          <a:xfrm>
            <a:off x="594360" y="5806440"/>
            <a:ext cx="11000232" cy="512064"/>
          </a:xfrm>
          <a:prstGeom prst="rect">
            <a:avLst/>
          </a:prstGeom>
          <a:solidFill>
            <a:srgbClr val="E0E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97880"/>
            <a:ext cx="10735056" cy="365760"/>
          </a:xfrm>
          <a:prstGeom prst="rect">
            <a:avLst/>
          </a:prstGeom>
          <a:noFill/>
        </p:spPr>
        <p:txBody>
          <a:bodyPr wrap="square" lIns="18288" rIns="18288" tIns="0" bIns="0">
            <a:spAutoFit/>
          </a:bodyPr>
          <a:lstStyle/>
          <a:p>
            <a:pPr>
              <a:spcAft>
                <a:spcPts val="900"/>
              </a:spcAft>
              <a:defRPr sz="1250" b="0">
                <a:solidFill>
                  <a:srgbClr val="132C38"/>
                </a:solidFill>
                <a:latin typeface="DejaVu Sans"/>
              </a:defRPr>
            </a:pPr>
            <a:r>
              <a:t>The released pretraining file has no classification head. Our saved fine-tuned classifier does.</a:t>
            </a:r>
          </a:p>
        </p:txBody>
      </p:sp>
      <p:sp>
        <p:nvSpPr>
          <p:cNvPr id="20" name="TextBox 19"/>
          <p:cNvSpPr txBox="1"/>
          <p:nvPr/>
        </p:nvSpPr>
        <p:spPr>
          <a:xfrm>
            <a:off x="594360" y="6519672"/>
            <a:ext cx="10424160" cy="182880"/>
          </a:xfrm>
          <a:prstGeom prst="rect">
            <a:avLst/>
          </a:prstGeom>
          <a:noFill/>
        </p:spPr>
        <p:txBody>
          <a:bodyPr wrap="square" lIns="18288" rIns="18288" tIns="0" bIns="0">
            <a:spAutoFit/>
          </a:bodyPr>
          <a:lstStyle/>
          <a:p>
            <a:pPr>
              <a:spcAft>
                <a:spcPts val="900"/>
              </a:spcAft>
              <a:defRPr sz="900" b="0">
                <a:solidFill>
                  <a:srgbClr val="516774"/>
                </a:solidFill>
                <a:latin typeface="DejaVu Sans"/>
              </a:defRPr>
            </a:pPr>
            <a:r>
              <a:rPr>
                <a:hlinkClick r:id="rId3"/>
              </a:rPr>
              <a:t>NETMAMBA+  /  MEASURED RESEARCH  /  15 September 2026</a:t>
            </a:r>
          </a:p>
        </p:txBody>
      </p:sp>
      <p:sp>
        <p:nvSpPr>
          <p:cNvPr id="21" name="TextBox 20"/>
          <p:cNvSpPr txBox="1"/>
          <p:nvPr/>
        </p:nvSpPr>
        <p:spPr>
          <a:xfrm>
            <a:off x="11155680" y="6473952"/>
            <a:ext cx="457200" cy="228600"/>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38328"/>
            <a:ext cx="10789920" cy="274320"/>
          </a:xfrm>
          <a:prstGeom prst="rect">
            <a:avLst/>
          </a:prstGeom>
          <a:noFill/>
        </p:spPr>
        <p:txBody>
          <a:bodyPr wrap="square" lIns="18288" rIns="18288" tIns="0" bIns="0">
            <a:spAutoFit/>
          </a:bodyPr>
          <a:lstStyle/>
          <a:p>
            <a:pPr>
              <a:spcAft>
                <a:spcPts val="900"/>
              </a:spcAft>
              <a:defRPr sz="1100" b="1">
                <a:solidFill>
                  <a:srgbClr val="007C78"/>
                </a:solidFill>
                <a:latin typeface="DejaVu Sans"/>
              </a:defRPr>
            </a:pPr>
            <a:r>
              <a:t>04 / EXPERIMENTAL PROTOCOL</a:t>
            </a:r>
          </a:p>
        </p:txBody>
      </p:sp>
      <p:sp>
        <p:nvSpPr>
          <p:cNvPr id="4" name="TextBox 3"/>
          <p:cNvSpPr txBox="1"/>
          <p:nvPr/>
        </p:nvSpPr>
        <p:spPr>
          <a:xfrm>
            <a:off x="594360" y="841248"/>
            <a:ext cx="10972800" cy="621792"/>
          </a:xfrm>
          <a:prstGeom prst="rect">
            <a:avLst/>
          </a:prstGeom>
          <a:noFill/>
        </p:spPr>
        <p:txBody>
          <a:bodyPr wrap="square" lIns="18288" rIns="18288" tIns="0" bIns="0">
            <a:spAutoFit/>
          </a:bodyPr>
          <a:lstStyle/>
          <a:p>
            <a:pPr>
              <a:spcAft>
                <a:spcPts val="900"/>
              </a:spcAft>
              <a:defRPr sz="3400" b="0">
                <a:solidFill>
                  <a:srgbClr val="132C38"/>
                </a:solidFill>
                <a:latin typeface="Liberation Serif"/>
              </a:defRPr>
            </a:pPr>
            <a:r>
              <a:t>The source recipe differs from the paper</a:t>
            </a:r>
          </a:p>
        </p:txBody>
      </p:sp>
      <p:sp>
        <p:nvSpPr>
          <p:cNvPr id="5" name="TextBox 4"/>
          <p:cNvSpPr txBox="1"/>
          <p:nvPr/>
        </p:nvSpPr>
        <p:spPr>
          <a:xfrm>
            <a:off x="594360" y="1600200"/>
            <a:ext cx="10881360" cy="548640"/>
          </a:xfrm>
          <a:prstGeom prst="rect">
            <a:avLst/>
          </a:prstGeom>
          <a:noFill/>
        </p:spPr>
        <p:txBody>
          <a:bodyPr wrap="square" lIns="18288" rIns="18288" tIns="0" bIns="0">
            <a:spAutoFit/>
          </a:bodyPr>
          <a:lstStyle/>
          <a:p>
            <a:pPr>
              <a:spcAft>
                <a:spcPts val="900"/>
              </a:spcAft>
              <a:defRPr sz="1600" b="0">
                <a:solidFill>
                  <a:srgbClr val="516774"/>
                </a:solidFill>
                <a:latin typeface="DejaVu Sans"/>
              </a:defRPr>
            </a:pPr>
            <a:r>
              <a:t>Preserve those differences when describing the result.</a:t>
            </a:r>
          </a:p>
        </p:txBody>
      </p:sp>
      <p:sp>
        <p:nvSpPr>
          <p:cNvPr id="6" name="Rectangle 5"/>
          <p:cNvSpPr/>
          <p:nvPr/>
        </p:nvSpPr>
        <p:spPr>
          <a:xfrm>
            <a:off x="594360" y="2331720"/>
            <a:ext cx="2743200" cy="484632"/>
          </a:xfrm>
          <a:prstGeom prst="rect">
            <a:avLst/>
          </a:prstGeom>
          <a:solidFill>
            <a:srgbClr val="13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441448"/>
            <a:ext cx="2523744" cy="338328"/>
          </a:xfrm>
          <a:prstGeom prst="rect">
            <a:avLst/>
          </a:prstGeom>
          <a:noFill/>
        </p:spPr>
        <p:txBody>
          <a:bodyPr wrap="square" lIns="18288" rIns="18288" tIns="0" bIns="0">
            <a:spAutoFit/>
          </a:bodyPr>
          <a:lstStyle/>
          <a:p>
            <a:pPr>
              <a:spcAft>
                <a:spcPts val="900"/>
              </a:spcAft>
              <a:defRPr sz="1400" b="1">
                <a:solidFill>
                  <a:srgbClr val="FFFFFF"/>
                </a:solidFill>
                <a:latin typeface="DejaVu Sans"/>
              </a:defRPr>
            </a:pPr>
            <a:r>
              <a:t>Setting</a:t>
            </a:r>
          </a:p>
        </p:txBody>
      </p:sp>
      <p:sp>
        <p:nvSpPr>
          <p:cNvPr id="8" name="Rectangle 7"/>
          <p:cNvSpPr/>
          <p:nvPr/>
        </p:nvSpPr>
        <p:spPr>
          <a:xfrm>
            <a:off x="3337560" y="2331720"/>
            <a:ext cx="4434840" cy="484632"/>
          </a:xfrm>
          <a:prstGeom prst="rect">
            <a:avLst/>
          </a:prstGeom>
          <a:solidFill>
            <a:srgbClr val="13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65576" y="2441448"/>
            <a:ext cx="4215383" cy="338328"/>
          </a:xfrm>
          <a:prstGeom prst="rect">
            <a:avLst/>
          </a:prstGeom>
          <a:noFill/>
        </p:spPr>
        <p:txBody>
          <a:bodyPr wrap="square" lIns="18288" rIns="18288" tIns="0" bIns="0">
            <a:spAutoFit/>
          </a:bodyPr>
          <a:lstStyle/>
          <a:p>
            <a:pPr>
              <a:spcAft>
                <a:spcPts val="900"/>
              </a:spcAft>
              <a:defRPr sz="1400" b="1">
                <a:solidFill>
                  <a:srgbClr val="FFFFFF"/>
                </a:solidFill>
                <a:latin typeface="DejaVu Sans"/>
              </a:defRPr>
            </a:pPr>
            <a:r>
              <a:t>Measured source profile</a:t>
            </a:r>
          </a:p>
        </p:txBody>
      </p:sp>
      <p:sp>
        <p:nvSpPr>
          <p:cNvPr id="10" name="Rectangle 9"/>
          <p:cNvSpPr/>
          <p:nvPr/>
        </p:nvSpPr>
        <p:spPr>
          <a:xfrm>
            <a:off x="7772400" y="2331720"/>
            <a:ext cx="3794760" cy="484632"/>
          </a:xfrm>
          <a:prstGeom prst="rect">
            <a:avLst/>
          </a:prstGeom>
          <a:solidFill>
            <a:srgbClr val="13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00416" y="2441448"/>
            <a:ext cx="3575304" cy="338328"/>
          </a:xfrm>
          <a:prstGeom prst="rect">
            <a:avLst/>
          </a:prstGeom>
          <a:noFill/>
        </p:spPr>
        <p:txBody>
          <a:bodyPr wrap="square" lIns="18288" rIns="18288" tIns="0" bIns="0">
            <a:spAutoFit/>
          </a:bodyPr>
          <a:lstStyle/>
          <a:p>
            <a:pPr>
              <a:spcAft>
                <a:spcPts val="900"/>
              </a:spcAft>
              <a:defRPr sz="1400" b="1">
                <a:solidFill>
                  <a:srgbClr val="FFFFFF"/>
                </a:solidFill>
                <a:latin typeface="DejaVu Sans"/>
              </a:defRPr>
            </a:pPr>
            <a:r>
              <a:t>Paper v1</a:t>
            </a:r>
          </a:p>
        </p:txBody>
      </p:sp>
      <p:sp>
        <p:nvSpPr>
          <p:cNvPr id="12" name="Rectangle 11"/>
          <p:cNvSpPr/>
          <p:nvPr/>
        </p:nvSpPr>
        <p:spPr>
          <a:xfrm>
            <a:off x="594360" y="2816352"/>
            <a:ext cx="27432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2926080"/>
            <a:ext cx="2523744"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Fine-tuning budget</a:t>
            </a:r>
          </a:p>
        </p:txBody>
      </p:sp>
      <p:sp>
        <p:nvSpPr>
          <p:cNvPr id="14" name="Rectangle 13"/>
          <p:cNvSpPr/>
          <p:nvPr/>
        </p:nvSpPr>
        <p:spPr>
          <a:xfrm>
            <a:off x="3337560" y="2816352"/>
            <a:ext cx="443484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65576" y="2926080"/>
            <a:ext cx="4215383"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120 epochs × 3 seeds</a:t>
            </a:r>
          </a:p>
        </p:txBody>
      </p:sp>
      <p:sp>
        <p:nvSpPr>
          <p:cNvPr id="16" name="Rectangle 15"/>
          <p:cNvSpPr/>
          <p:nvPr/>
        </p:nvSpPr>
        <p:spPr>
          <a:xfrm>
            <a:off x="7772400" y="2816352"/>
            <a:ext cx="379476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416" y="2926080"/>
            <a:ext cx="3575304"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120 epochs</a:t>
            </a:r>
          </a:p>
        </p:txBody>
      </p:sp>
      <p:sp>
        <p:nvSpPr>
          <p:cNvPr id="18" name="Rectangle 17"/>
          <p:cNvSpPr/>
          <p:nvPr/>
        </p:nvSpPr>
        <p:spPr>
          <a:xfrm>
            <a:off x="594360" y="3300984"/>
            <a:ext cx="274320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3410712"/>
            <a:ext cx="2523744"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Batch size</a:t>
            </a:r>
          </a:p>
        </p:txBody>
      </p:sp>
      <p:sp>
        <p:nvSpPr>
          <p:cNvPr id="20" name="Rectangle 19"/>
          <p:cNvSpPr/>
          <p:nvPr/>
        </p:nvSpPr>
        <p:spPr>
          <a:xfrm>
            <a:off x="3337560" y="3300984"/>
            <a:ext cx="443484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65576" y="3410712"/>
            <a:ext cx="4215383"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128</a:t>
            </a:r>
          </a:p>
        </p:txBody>
      </p:sp>
      <p:sp>
        <p:nvSpPr>
          <p:cNvPr id="22" name="Rectangle 21"/>
          <p:cNvSpPr/>
          <p:nvPr/>
        </p:nvSpPr>
        <p:spPr>
          <a:xfrm>
            <a:off x="7772400" y="3300984"/>
            <a:ext cx="379476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0416" y="3410712"/>
            <a:ext cx="3575304"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64</a:t>
            </a:r>
          </a:p>
        </p:txBody>
      </p:sp>
      <p:sp>
        <p:nvSpPr>
          <p:cNvPr id="24" name="Rectangle 23"/>
          <p:cNvSpPr/>
          <p:nvPr/>
        </p:nvSpPr>
        <p:spPr>
          <a:xfrm>
            <a:off x="594360" y="3785615"/>
            <a:ext cx="27432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3895344"/>
            <a:ext cx="2523744"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Maximum effective LR</a:t>
            </a:r>
          </a:p>
        </p:txBody>
      </p:sp>
      <p:sp>
        <p:nvSpPr>
          <p:cNvPr id="26" name="Rectangle 25"/>
          <p:cNvSpPr/>
          <p:nvPr/>
        </p:nvSpPr>
        <p:spPr>
          <a:xfrm>
            <a:off x="3337560" y="3785615"/>
            <a:ext cx="443484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65576" y="3895344"/>
            <a:ext cx="4215383"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0.001 (blr 0.002)</a:t>
            </a:r>
          </a:p>
        </p:txBody>
      </p:sp>
      <p:sp>
        <p:nvSpPr>
          <p:cNvPr id="28" name="Rectangle 27"/>
          <p:cNvSpPr/>
          <p:nvPr/>
        </p:nvSpPr>
        <p:spPr>
          <a:xfrm>
            <a:off x="7772400" y="3785615"/>
            <a:ext cx="379476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00416" y="3895344"/>
            <a:ext cx="3575304"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Reported 0.002</a:t>
            </a:r>
          </a:p>
        </p:txBody>
      </p:sp>
      <p:sp>
        <p:nvSpPr>
          <p:cNvPr id="30" name="Rectangle 29"/>
          <p:cNvSpPr/>
          <p:nvPr/>
        </p:nvSpPr>
        <p:spPr>
          <a:xfrm>
            <a:off x="594360" y="4270248"/>
            <a:ext cx="274320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 y="4379976"/>
            <a:ext cx="2523744"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Runtime</a:t>
            </a:r>
          </a:p>
        </p:txBody>
      </p:sp>
      <p:sp>
        <p:nvSpPr>
          <p:cNvPr id="32" name="Rectangle 31"/>
          <p:cNvSpPr/>
          <p:nvPr/>
        </p:nvSpPr>
        <p:spPr>
          <a:xfrm>
            <a:off x="3337560" y="4270248"/>
            <a:ext cx="443484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65576" y="4379976"/>
            <a:ext cx="4215383"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GB10 / Torch 2.9.1 / cu130</a:t>
            </a:r>
          </a:p>
        </p:txBody>
      </p:sp>
      <p:sp>
        <p:nvSpPr>
          <p:cNvPr id="34" name="Rectangle 33"/>
          <p:cNvSpPr/>
          <p:nvPr/>
        </p:nvSpPr>
        <p:spPr>
          <a:xfrm>
            <a:off x="7772400" y="4270248"/>
            <a:ext cx="379476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0416" y="4379976"/>
            <a:ext cx="3575304"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A100 / Torch 2.1.1</a:t>
            </a:r>
          </a:p>
        </p:txBody>
      </p:sp>
      <p:sp>
        <p:nvSpPr>
          <p:cNvPr id="36" name="Rectangle 35"/>
          <p:cNvSpPr/>
          <p:nvPr/>
        </p:nvSpPr>
        <p:spPr>
          <a:xfrm>
            <a:off x="594360" y="4754880"/>
            <a:ext cx="27432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6" y="4864608"/>
            <a:ext cx="2523744"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Pretraining history</a:t>
            </a:r>
          </a:p>
        </p:txBody>
      </p:sp>
      <p:sp>
        <p:nvSpPr>
          <p:cNvPr id="38" name="Rectangle 37"/>
          <p:cNvSpPr/>
          <p:nvPr/>
        </p:nvSpPr>
        <p:spPr>
          <a:xfrm>
            <a:off x="3337560" y="4754880"/>
            <a:ext cx="443484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65576" y="4864608"/>
            <a:ext cx="4215383"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Released weights; partly unknown</a:t>
            </a:r>
          </a:p>
        </p:txBody>
      </p:sp>
      <p:sp>
        <p:nvSpPr>
          <p:cNvPr id="40" name="Rectangle 39"/>
          <p:cNvSpPr/>
          <p:nvPr/>
        </p:nvSpPr>
        <p:spPr>
          <a:xfrm>
            <a:off x="7772400" y="4754880"/>
            <a:ext cx="379476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00416" y="4864608"/>
            <a:ext cx="3575304" cy="338328"/>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Browser + Kitsune</a:t>
            </a:r>
          </a:p>
        </p:txBody>
      </p:sp>
      <p:sp>
        <p:nvSpPr>
          <p:cNvPr id="42" name="Rectangle 41"/>
          <p:cNvSpPr/>
          <p:nvPr/>
        </p:nvSpPr>
        <p:spPr>
          <a:xfrm>
            <a:off x="594360" y="5806440"/>
            <a:ext cx="11000232" cy="512064"/>
          </a:xfrm>
          <a:prstGeom prst="rect">
            <a:avLst/>
          </a:prstGeom>
          <a:solidFill>
            <a:srgbClr val="E0E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897880"/>
            <a:ext cx="10735056" cy="365760"/>
          </a:xfrm>
          <a:prstGeom prst="rect">
            <a:avLst/>
          </a:prstGeom>
          <a:noFill/>
        </p:spPr>
        <p:txBody>
          <a:bodyPr wrap="square" lIns="18288" rIns="18288" tIns="0" bIns="0">
            <a:spAutoFit/>
          </a:bodyPr>
          <a:lstStyle/>
          <a:p>
            <a:pPr>
              <a:spcAft>
                <a:spcPts val="900"/>
              </a:spcAft>
              <a:defRPr sz="1250" b="0">
                <a:solidFill>
                  <a:srgbClr val="132C38"/>
                </a:solidFill>
                <a:latin typeface="DejaVu Sans"/>
              </a:defRPr>
            </a:pPr>
            <a:r>
              <a:t>Official splits: 8,323 train / 1,040 validation / 1,041 test. Seed 0 was chosen for the demo before test scores.</a:t>
            </a:r>
          </a:p>
        </p:txBody>
      </p:sp>
      <p:sp>
        <p:nvSpPr>
          <p:cNvPr id="44" name="TextBox 43"/>
          <p:cNvSpPr txBox="1"/>
          <p:nvPr/>
        </p:nvSpPr>
        <p:spPr>
          <a:xfrm>
            <a:off x="594360" y="6519672"/>
            <a:ext cx="10424160" cy="182880"/>
          </a:xfrm>
          <a:prstGeom prst="rect">
            <a:avLst/>
          </a:prstGeom>
          <a:noFill/>
        </p:spPr>
        <p:txBody>
          <a:bodyPr wrap="square" lIns="18288" rIns="18288" tIns="0" bIns="0">
            <a:spAutoFit/>
          </a:bodyPr>
          <a:lstStyle/>
          <a:p>
            <a:pPr>
              <a:spcAft>
                <a:spcPts val="900"/>
              </a:spcAft>
              <a:defRPr sz="900" b="0">
                <a:solidFill>
                  <a:srgbClr val="516774"/>
                </a:solidFill>
                <a:latin typeface="DejaVu Sans"/>
              </a:defRPr>
            </a:pPr>
            <a:r>
              <a:rPr>
                <a:hlinkClick r:id="rId3"/>
              </a:rPr>
              <a:t>NETMAMBA+  /  MEASURED RESEARCH  /  15 September 2026</a:t>
            </a:r>
          </a:p>
        </p:txBody>
      </p:sp>
      <p:sp>
        <p:nvSpPr>
          <p:cNvPr id="45" name="TextBox 44"/>
          <p:cNvSpPr txBox="1"/>
          <p:nvPr/>
        </p:nvSpPr>
        <p:spPr>
          <a:xfrm>
            <a:off x="11155680" y="6473952"/>
            <a:ext cx="457200" cy="228600"/>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38328"/>
            <a:ext cx="10789920" cy="274320"/>
          </a:xfrm>
          <a:prstGeom prst="rect">
            <a:avLst/>
          </a:prstGeom>
          <a:noFill/>
        </p:spPr>
        <p:txBody>
          <a:bodyPr wrap="square" lIns="18288" rIns="18288" tIns="0" bIns="0">
            <a:spAutoFit/>
          </a:bodyPr>
          <a:lstStyle/>
          <a:p>
            <a:pPr>
              <a:spcAft>
                <a:spcPts val="900"/>
              </a:spcAft>
              <a:defRPr sz="1100" b="1">
                <a:solidFill>
                  <a:srgbClr val="007C78"/>
                </a:solidFill>
                <a:latin typeface="DejaVu Sans"/>
              </a:defRPr>
            </a:pPr>
            <a:r>
              <a:t>05 / MEASURED RESULTS</a:t>
            </a:r>
          </a:p>
        </p:txBody>
      </p:sp>
      <p:sp>
        <p:nvSpPr>
          <p:cNvPr id="4" name="TextBox 3"/>
          <p:cNvSpPr txBox="1"/>
          <p:nvPr/>
        </p:nvSpPr>
        <p:spPr>
          <a:xfrm>
            <a:off x="594360" y="841248"/>
            <a:ext cx="10972800" cy="621792"/>
          </a:xfrm>
          <a:prstGeom prst="rect">
            <a:avLst/>
          </a:prstGeom>
          <a:noFill/>
        </p:spPr>
        <p:txBody>
          <a:bodyPr wrap="square" lIns="18288" rIns="18288" tIns="0" bIns="0">
            <a:spAutoFit/>
          </a:bodyPr>
          <a:lstStyle/>
          <a:p>
            <a:pPr>
              <a:spcAft>
                <a:spcPts val="900"/>
              </a:spcAft>
              <a:defRPr sz="3400" b="0">
                <a:solidFill>
                  <a:srgbClr val="132C38"/>
                </a:solidFill>
                <a:latin typeface="Liberation Serif"/>
              </a:defRPr>
            </a:pPr>
            <a:r>
              <a:t>Report every seed and name the metric</a:t>
            </a:r>
          </a:p>
        </p:txBody>
      </p:sp>
      <p:sp>
        <p:nvSpPr>
          <p:cNvPr id="5" name="TextBox 4"/>
          <p:cNvSpPr txBox="1"/>
          <p:nvPr/>
        </p:nvSpPr>
        <p:spPr>
          <a:xfrm>
            <a:off x="594360" y="1600200"/>
            <a:ext cx="10881360" cy="548640"/>
          </a:xfrm>
          <a:prstGeom prst="rect">
            <a:avLst/>
          </a:prstGeom>
          <a:noFill/>
        </p:spPr>
        <p:txBody>
          <a:bodyPr wrap="square" lIns="18288" rIns="18288" tIns="0" bIns="0">
            <a:spAutoFit/>
          </a:bodyPr>
          <a:lstStyle/>
          <a:p>
            <a:pPr>
              <a:spcAft>
                <a:spcPts val="900"/>
              </a:spcAft>
              <a:defRPr sz="1600" b="0">
                <a:solidFill>
                  <a:srgbClr val="516774"/>
                </a:solidFill>
                <a:latin typeface="DejaVu Sans"/>
              </a:defRPr>
            </a:pPr>
            <a:r>
              <a:t>Test accuracy, support-weighted F1 and macro F1 are independently recomputed.</a:t>
            </a:r>
          </a:p>
        </p:txBody>
      </p:sp>
      <p:sp>
        <p:nvSpPr>
          <p:cNvPr id="6" name="Rectangle 5"/>
          <p:cNvSpPr/>
          <p:nvPr/>
        </p:nvSpPr>
        <p:spPr>
          <a:xfrm>
            <a:off x="594360" y="2331720"/>
            <a:ext cx="2743200" cy="484632"/>
          </a:xfrm>
          <a:prstGeom prst="rect">
            <a:avLst/>
          </a:prstGeom>
          <a:solidFill>
            <a:srgbClr val="13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441448"/>
            <a:ext cx="2523744" cy="338328"/>
          </a:xfrm>
          <a:prstGeom prst="rect">
            <a:avLst/>
          </a:prstGeom>
          <a:noFill/>
        </p:spPr>
        <p:txBody>
          <a:bodyPr wrap="square" lIns="18288" rIns="18288" tIns="0" bIns="0">
            <a:spAutoFit/>
          </a:bodyPr>
          <a:lstStyle/>
          <a:p>
            <a:pPr>
              <a:spcAft>
                <a:spcPts val="900"/>
              </a:spcAft>
              <a:defRPr sz="1400" b="1">
                <a:solidFill>
                  <a:srgbClr val="FFFFFF"/>
                </a:solidFill>
                <a:latin typeface="DejaVu Sans"/>
              </a:defRPr>
            </a:pPr>
            <a:r>
              <a:t>Seed</a:t>
            </a:r>
          </a:p>
        </p:txBody>
      </p:sp>
      <p:sp>
        <p:nvSpPr>
          <p:cNvPr id="8" name="Rectangle 7"/>
          <p:cNvSpPr/>
          <p:nvPr/>
        </p:nvSpPr>
        <p:spPr>
          <a:xfrm>
            <a:off x="3337560" y="2331720"/>
            <a:ext cx="2743200" cy="484632"/>
          </a:xfrm>
          <a:prstGeom prst="rect">
            <a:avLst/>
          </a:prstGeom>
          <a:solidFill>
            <a:srgbClr val="13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65576" y="2441448"/>
            <a:ext cx="2523744" cy="338328"/>
          </a:xfrm>
          <a:prstGeom prst="rect">
            <a:avLst/>
          </a:prstGeom>
          <a:noFill/>
        </p:spPr>
        <p:txBody>
          <a:bodyPr wrap="square" lIns="18288" rIns="18288" tIns="0" bIns="0">
            <a:spAutoFit/>
          </a:bodyPr>
          <a:lstStyle/>
          <a:p>
            <a:pPr>
              <a:spcAft>
                <a:spcPts val="900"/>
              </a:spcAft>
              <a:defRPr sz="1400" b="1">
                <a:solidFill>
                  <a:srgbClr val="FFFFFF"/>
                </a:solidFill>
                <a:latin typeface="DejaVu Sans"/>
              </a:defRPr>
            </a:pPr>
            <a:r>
              <a:t>Accuracy</a:t>
            </a:r>
          </a:p>
        </p:txBody>
      </p:sp>
      <p:sp>
        <p:nvSpPr>
          <p:cNvPr id="10" name="Rectangle 9"/>
          <p:cNvSpPr/>
          <p:nvPr/>
        </p:nvSpPr>
        <p:spPr>
          <a:xfrm>
            <a:off x="6080760" y="2331720"/>
            <a:ext cx="2743200" cy="484632"/>
          </a:xfrm>
          <a:prstGeom prst="rect">
            <a:avLst/>
          </a:prstGeom>
          <a:solidFill>
            <a:srgbClr val="13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08776" y="2441448"/>
            <a:ext cx="2523744" cy="338328"/>
          </a:xfrm>
          <a:prstGeom prst="rect">
            <a:avLst/>
          </a:prstGeom>
          <a:noFill/>
        </p:spPr>
        <p:txBody>
          <a:bodyPr wrap="square" lIns="18288" rIns="18288" tIns="0" bIns="0">
            <a:spAutoFit/>
          </a:bodyPr>
          <a:lstStyle/>
          <a:p>
            <a:pPr>
              <a:spcAft>
                <a:spcPts val="900"/>
              </a:spcAft>
              <a:defRPr sz="1400" b="1">
                <a:solidFill>
                  <a:srgbClr val="FFFFFF"/>
                </a:solidFill>
                <a:latin typeface="DejaVu Sans"/>
              </a:defRPr>
            </a:pPr>
            <a:r>
              <a:t>Weighted F1</a:t>
            </a:r>
          </a:p>
        </p:txBody>
      </p:sp>
      <p:sp>
        <p:nvSpPr>
          <p:cNvPr id="12" name="Rectangle 11"/>
          <p:cNvSpPr/>
          <p:nvPr/>
        </p:nvSpPr>
        <p:spPr>
          <a:xfrm>
            <a:off x="8823960" y="2331720"/>
            <a:ext cx="2743200" cy="484632"/>
          </a:xfrm>
          <a:prstGeom prst="rect">
            <a:avLst/>
          </a:prstGeom>
          <a:solidFill>
            <a:srgbClr val="13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51976" y="2441448"/>
            <a:ext cx="2523744" cy="338328"/>
          </a:xfrm>
          <a:prstGeom prst="rect">
            <a:avLst/>
          </a:prstGeom>
          <a:noFill/>
        </p:spPr>
        <p:txBody>
          <a:bodyPr wrap="square" lIns="18288" rIns="18288" tIns="0" bIns="0">
            <a:spAutoFit/>
          </a:bodyPr>
          <a:lstStyle/>
          <a:p>
            <a:pPr>
              <a:spcAft>
                <a:spcPts val="900"/>
              </a:spcAft>
              <a:defRPr sz="1400" b="1">
                <a:solidFill>
                  <a:srgbClr val="FFFFFF"/>
                </a:solidFill>
                <a:latin typeface="DejaVu Sans"/>
              </a:defRPr>
            </a:pPr>
            <a:r>
              <a:t>Macro F1</a:t>
            </a:r>
          </a:p>
        </p:txBody>
      </p:sp>
      <p:sp>
        <p:nvSpPr>
          <p:cNvPr id="14" name="Rectangle 13"/>
          <p:cNvSpPr/>
          <p:nvPr/>
        </p:nvSpPr>
        <p:spPr>
          <a:xfrm>
            <a:off x="594360" y="2816352"/>
            <a:ext cx="27432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2926080"/>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0</a:t>
            </a:r>
          </a:p>
        </p:txBody>
      </p:sp>
      <p:sp>
        <p:nvSpPr>
          <p:cNvPr id="16" name="Rectangle 15"/>
          <p:cNvSpPr/>
          <p:nvPr/>
        </p:nvSpPr>
        <p:spPr>
          <a:xfrm>
            <a:off x="3337560" y="2816352"/>
            <a:ext cx="27432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65576" y="2926080"/>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91.26%</a:t>
            </a:r>
          </a:p>
        </p:txBody>
      </p:sp>
      <p:sp>
        <p:nvSpPr>
          <p:cNvPr id="18" name="Rectangle 17"/>
          <p:cNvSpPr/>
          <p:nvPr/>
        </p:nvSpPr>
        <p:spPr>
          <a:xfrm>
            <a:off x="6080760" y="2816352"/>
            <a:ext cx="27432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08776" y="2926080"/>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91.26%</a:t>
            </a:r>
          </a:p>
        </p:txBody>
      </p:sp>
      <p:sp>
        <p:nvSpPr>
          <p:cNvPr id="20" name="Rectangle 19"/>
          <p:cNvSpPr/>
          <p:nvPr/>
        </p:nvSpPr>
        <p:spPr>
          <a:xfrm>
            <a:off x="8823960" y="2816352"/>
            <a:ext cx="27432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51976" y="2926080"/>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91.58%</a:t>
            </a:r>
          </a:p>
        </p:txBody>
      </p:sp>
      <p:sp>
        <p:nvSpPr>
          <p:cNvPr id="22" name="Rectangle 21"/>
          <p:cNvSpPr/>
          <p:nvPr/>
        </p:nvSpPr>
        <p:spPr>
          <a:xfrm>
            <a:off x="594360" y="3300984"/>
            <a:ext cx="274320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 y="3410712"/>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1</a:t>
            </a:r>
          </a:p>
        </p:txBody>
      </p:sp>
      <p:sp>
        <p:nvSpPr>
          <p:cNvPr id="24" name="Rectangle 23"/>
          <p:cNvSpPr/>
          <p:nvPr/>
        </p:nvSpPr>
        <p:spPr>
          <a:xfrm>
            <a:off x="3337560" y="3300984"/>
            <a:ext cx="274320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65576" y="3410712"/>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84.05%</a:t>
            </a:r>
          </a:p>
        </p:txBody>
      </p:sp>
      <p:sp>
        <p:nvSpPr>
          <p:cNvPr id="26" name="Rectangle 25"/>
          <p:cNvSpPr/>
          <p:nvPr/>
        </p:nvSpPr>
        <p:spPr>
          <a:xfrm>
            <a:off x="6080760" y="3300984"/>
            <a:ext cx="274320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08776" y="3410712"/>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84.08%</a:t>
            </a:r>
          </a:p>
        </p:txBody>
      </p:sp>
      <p:sp>
        <p:nvSpPr>
          <p:cNvPr id="28" name="Rectangle 27"/>
          <p:cNvSpPr/>
          <p:nvPr/>
        </p:nvSpPr>
        <p:spPr>
          <a:xfrm>
            <a:off x="8823960" y="3300984"/>
            <a:ext cx="274320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51976" y="3410712"/>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84.86%</a:t>
            </a:r>
          </a:p>
        </p:txBody>
      </p:sp>
      <p:sp>
        <p:nvSpPr>
          <p:cNvPr id="30" name="Rectangle 29"/>
          <p:cNvSpPr/>
          <p:nvPr/>
        </p:nvSpPr>
        <p:spPr>
          <a:xfrm>
            <a:off x="594360" y="3785615"/>
            <a:ext cx="27432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 y="3895344"/>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2</a:t>
            </a:r>
          </a:p>
        </p:txBody>
      </p:sp>
      <p:sp>
        <p:nvSpPr>
          <p:cNvPr id="32" name="Rectangle 31"/>
          <p:cNvSpPr/>
          <p:nvPr/>
        </p:nvSpPr>
        <p:spPr>
          <a:xfrm>
            <a:off x="3337560" y="3785615"/>
            <a:ext cx="27432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65576" y="3895344"/>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84.63%</a:t>
            </a:r>
          </a:p>
        </p:txBody>
      </p:sp>
      <p:sp>
        <p:nvSpPr>
          <p:cNvPr id="34" name="Rectangle 33"/>
          <p:cNvSpPr/>
          <p:nvPr/>
        </p:nvSpPr>
        <p:spPr>
          <a:xfrm>
            <a:off x="6080760" y="3785615"/>
            <a:ext cx="27432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08776" y="3895344"/>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84.67%</a:t>
            </a:r>
          </a:p>
        </p:txBody>
      </p:sp>
      <p:sp>
        <p:nvSpPr>
          <p:cNvPr id="36" name="Rectangle 35"/>
          <p:cNvSpPr/>
          <p:nvPr/>
        </p:nvSpPr>
        <p:spPr>
          <a:xfrm>
            <a:off x="8823960" y="3785615"/>
            <a:ext cx="27432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51976" y="3895344"/>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85.38%</a:t>
            </a:r>
          </a:p>
        </p:txBody>
      </p:sp>
      <p:sp>
        <p:nvSpPr>
          <p:cNvPr id="38" name="Rectangle 37"/>
          <p:cNvSpPr/>
          <p:nvPr/>
        </p:nvSpPr>
        <p:spPr>
          <a:xfrm>
            <a:off x="594360" y="4270248"/>
            <a:ext cx="274320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2376" y="4379976"/>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Mean</a:t>
            </a:r>
          </a:p>
        </p:txBody>
      </p:sp>
      <p:sp>
        <p:nvSpPr>
          <p:cNvPr id="40" name="Rectangle 39"/>
          <p:cNvSpPr/>
          <p:nvPr/>
        </p:nvSpPr>
        <p:spPr>
          <a:xfrm>
            <a:off x="3337560" y="4270248"/>
            <a:ext cx="274320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65576" y="4379976"/>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86.65%</a:t>
            </a:r>
          </a:p>
        </p:txBody>
      </p:sp>
      <p:sp>
        <p:nvSpPr>
          <p:cNvPr id="42" name="Rectangle 41"/>
          <p:cNvSpPr/>
          <p:nvPr/>
        </p:nvSpPr>
        <p:spPr>
          <a:xfrm>
            <a:off x="6080760" y="4270248"/>
            <a:ext cx="274320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08776" y="4379976"/>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86.67%</a:t>
            </a:r>
          </a:p>
        </p:txBody>
      </p:sp>
      <p:sp>
        <p:nvSpPr>
          <p:cNvPr id="44" name="Rectangle 43"/>
          <p:cNvSpPr/>
          <p:nvPr/>
        </p:nvSpPr>
        <p:spPr>
          <a:xfrm>
            <a:off x="8823960" y="4270248"/>
            <a:ext cx="274320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51976" y="4379976"/>
            <a:ext cx="252374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87.27%</a:t>
            </a:r>
          </a:p>
        </p:txBody>
      </p:sp>
      <p:sp>
        <p:nvSpPr>
          <p:cNvPr id="46" name="TextBox 45"/>
          <p:cNvSpPr txBox="1"/>
          <p:nvPr/>
        </p:nvSpPr>
        <p:spPr>
          <a:xfrm>
            <a:off x="731520" y="5010912"/>
            <a:ext cx="10698480" cy="502920"/>
          </a:xfrm>
          <a:prstGeom prst="rect">
            <a:avLst/>
          </a:prstGeom>
          <a:noFill/>
        </p:spPr>
        <p:txBody>
          <a:bodyPr wrap="square" lIns="18288" rIns="18288" tIns="0" bIns="0">
            <a:spAutoFit/>
          </a:bodyPr>
          <a:lstStyle/>
          <a:p>
            <a:pPr>
              <a:spcAft>
                <a:spcPts val="900"/>
              </a:spcAft>
              <a:defRPr sz="1500" b="0">
                <a:solidFill>
                  <a:srgbClr val="516774"/>
                </a:solidFill>
                <a:latin typeface="DejaVu Sans"/>
              </a:defRPr>
            </a:pPr>
            <a:r>
              <a:t>Accuracy sample SD: 4.00 percentage points across seeds on this fixed split.</a:t>
            </a:r>
          </a:p>
        </p:txBody>
      </p:sp>
      <p:sp>
        <p:nvSpPr>
          <p:cNvPr id="47" name="Rectangle 46"/>
          <p:cNvSpPr/>
          <p:nvPr/>
        </p:nvSpPr>
        <p:spPr>
          <a:xfrm>
            <a:off x="594360" y="5806440"/>
            <a:ext cx="11000232" cy="512064"/>
          </a:xfrm>
          <a:prstGeom prst="rect">
            <a:avLst/>
          </a:prstGeom>
          <a:solidFill>
            <a:srgbClr val="E0E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5897880"/>
            <a:ext cx="10735056" cy="365760"/>
          </a:xfrm>
          <a:prstGeom prst="rect">
            <a:avLst/>
          </a:prstGeom>
          <a:noFill/>
        </p:spPr>
        <p:txBody>
          <a:bodyPr wrap="square" lIns="18288" rIns="18288" tIns="0" bIns="0">
            <a:spAutoFit/>
          </a:bodyPr>
          <a:lstStyle/>
          <a:p>
            <a:pPr>
              <a:spcAft>
                <a:spcPts val="900"/>
              </a:spcAft>
              <a:defRPr sz="1250" b="0">
                <a:solidFill>
                  <a:srgbClr val="132C38"/>
                </a:solidFill>
                <a:latin typeface="DejaVu Sans"/>
              </a:defRPr>
            </a:pPr>
            <a:r>
              <a:t>Paper Table IV: NetMamba+ CICIoT2022 accuracy/F1 = 97.50%. This is a reference under different conditions.</a:t>
            </a:r>
          </a:p>
        </p:txBody>
      </p:sp>
      <p:sp>
        <p:nvSpPr>
          <p:cNvPr id="49" name="TextBox 48"/>
          <p:cNvSpPr txBox="1"/>
          <p:nvPr/>
        </p:nvSpPr>
        <p:spPr>
          <a:xfrm>
            <a:off x="594360" y="6519672"/>
            <a:ext cx="10424160" cy="182880"/>
          </a:xfrm>
          <a:prstGeom prst="rect">
            <a:avLst/>
          </a:prstGeom>
          <a:noFill/>
        </p:spPr>
        <p:txBody>
          <a:bodyPr wrap="square" lIns="18288" rIns="18288" tIns="0" bIns="0">
            <a:spAutoFit/>
          </a:bodyPr>
          <a:lstStyle/>
          <a:p>
            <a:pPr>
              <a:spcAft>
                <a:spcPts val="900"/>
              </a:spcAft>
              <a:defRPr sz="900" b="0">
                <a:solidFill>
                  <a:srgbClr val="516774"/>
                </a:solidFill>
                <a:latin typeface="DejaVu Sans"/>
              </a:defRPr>
            </a:pPr>
            <a:r>
              <a:rPr>
                <a:hlinkClick r:id="rId3"/>
              </a:rPr>
              <a:t>NETMAMBA+  /  MEASURED RESEARCH  /  15 September 2026</a:t>
            </a:r>
          </a:p>
        </p:txBody>
      </p:sp>
      <p:sp>
        <p:nvSpPr>
          <p:cNvPr id="50" name="TextBox 49"/>
          <p:cNvSpPr txBox="1"/>
          <p:nvPr/>
        </p:nvSpPr>
        <p:spPr>
          <a:xfrm>
            <a:off x="11155680" y="6473952"/>
            <a:ext cx="457200" cy="228600"/>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38328"/>
            <a:ext cx="10789920" cy="274320"/>
          </a:xfrm>
          <a:prstGeom prst="rect">
            <a:avLst/>
          </a:prstGeom>
          <a:noFill/>
        </p:spPr>
        <p:txBody>
          <a:bodyPr wrap="square" lIns="18288" rIns="18288" tIns="0" bIns="0">
            <a:spAutoFit/>
          </a:bodyPr>
          <a:lstStyle/>
          <a:p>
            <a:pPr>
              <a:spcAft>
                <a:spcPts val="900"/>
              </a:spcAft>
              <a:defRPr sz="1100" b="1">
                <a:solidFill>
                  <a:srgbClr val="007C78"/>
                </a:solidFill>
                <a:latin typeface="DejaVu Sans"/>
              </a:defRPr>
            </a:pPr>
            <a:r>
              <a:t>06 / WHERE THE CLASSIFIER MAKES MISTAKES</a:t>
            </a:r>
          </a:p>
        </p:txBody>
      </p:sp>
      <p:sp>
        <p:nvSpPr>
          <p:cNvPr id="4" name="TextBox 3"/>
          <p:cNvSpPr txBox="1"/>
          <p:nvPr/>
        </p:nvSpPr>
        <p:spPr>
          <a:xfrm>
            <a:off x="594360" y="841248"/>
            <a:ext cx="10972800" cy="621792"/>
          </a:xfrm>
          <a:prstGeom prst="rect">
            <a:avLst/>
          </a:prstGeom>
          <a:noFill/>
        </p:spPr>
        <p:txBody>
          <a:bodyPr wrap="square" lIns="18288" rIns="18288" tIns="0" bIns="0">
            <a:spAutoFit/>
          </a:bodyPr>
          <a:lstStyle/>
          <a:p>
            <a:pPr>
              <a:spcAft>
                <a:spcPts val="900"/>
              </a:spcAft>
              <a:defRPr sz="3400" b="0">
                <a:solidFill>
                  <a:srgbClr val="132C38"/>
                </a:solidFill>
                <a:latin typeface="Liberation Serif"/>
              </a:defRPr>
            </a:pPr>
            <a:r>
              <a:t>Make the errors visible</a:t>
            </a:r>
          </a:p>
        </p:txBody>
      </p:sp>
      <p:sp>
        <p:nvSpPr>
          <p:cNvPr id="5" name="TextBox 4"/>
          <p:cNvSpPr txBox="1"/>
          <p:nvPr/>
        </p:nvSpPr>
        <p:spPr>
          <a:xfrm>
            <a:off x="594360" y="1600200"/>
            <a:ext cx="10881360" cy="548640"/>
          </a:xfrm>
          <a:prstGeom prst="rect">
            <a:avLst/>
          </a:prstGeom>
          <a:noFill/>
        </p:spPr>
        <p:txBody>
          <a:bodyPr wrap="square" lIns="18288" rIns="18288" tIns="0" bIns="0">
            <a:spAutoFit/>
          </a:bodyPr>
          <a:lstStyle/>
          <a:p>
            <a:pPr>
              <a:spcAft>
                <a:spcPts val="900"/>
              </a:spcAft>
              <a:defRPr sz="1600" b="0">
                <a:solidFill>
                  <a:srgbClr val="516774"/>
                </a:solidFill>
                <a:latin typeface="DejaVu Sans"/>
              </a:defRPr>
            </a:pPr>
            <a:r>
              <a:t>Seed 0, selected for the demo in advance. Rows are true classes; columns are predictions.</a:t>
            </a:r>
          </a:p>
        </p:txBody>
      </p:sp>
      <p:sp>
        <p:nvSpPr>
          <p:cNvPr id="6" name="TextBox 5"/>
          <p:cNvSpPr txBox="1"/>
          <p:nvPr/>
        </p:nvSpPr>
        <p:spPr>
          <a:xfrm>
            <a:off x="612648" y="2350008"/>
            <a:ext cx="1078992" cy="274320"/>
          </a:xfrm>
          <a:prstGeom prst="rect">
            <a:avLst/>
          </a:prstGeom>
          <a:noFill/>
        </p:spPr>
        <p:txBody>
          <a:bodyPr wrap="square" lIns="18288" rIns="18288" tIns="0" bIns="0">
            <a:spAutoFit/>
          </a:bodyPr>
          <a:lstStyle/>
          <a:p>
            <a:pPr>
              <a:spcAft>
                <a:spcPts val="900"/>
              </a:spcAft>
              <a:defRPr sz="900" b="1">
                <a:solidFill>
                  <a:srgbClr val="516774"/>
                </a:solidFill>
                <a:latin typeface="DejaVu Sans"/>
              </a:defRPr>
            </a:pPr>
            <a:r>
              <a:t>TRUE / PRED.</a:t>
            </a:r>
          </a:p>
        </p:txBody>
      </p:sp>
      <p:sp>
        <p:nvSpPr>
          <p:cNvPr id="7" name="TextBox 6"/>
          <p:cNvSpPr txBox="1"/>
          <p:nvPr/>
        </p:nvSpPr>
        <p:spPr>
          <a:xfrm>
            <a:off x="1783080" y="2331720"/>
            <a:ext cx="868680" cy="320040"/>
          </a:xfrm>
          <a:prstGeom prst="rect">
            <a:avLst/>
          </a:prstGeom>
          <a:noFill/>
        </p:spPr>
        <p:txBody>
          <a:bodyPr wrap="square" lIns="18288" rIns="18288" tIns="0" bIns="0">
            <a:spAutoFit/>
          </a:bodyPr>
          <a:lstStyle/>
          <a:p>
            <a:pPr>
              <a:spcAft>
                <a:spcPts val="900"/>
              </a:spcAft>
              <a:defRPr sz="1200" b="1">
                <a:solidFill>
                  <a:srgbClr val="516774"/>
                </a:solidFill>
                <a:latin typeface="DejaVu Sans"/>
              </a:defRPr>
            </a:pPr>
            <a:r>
              <a:t>Flood</a:t>
            </a:r>
          </a:p>
        </p:txBody>
      </p:sp>
      <p:sp>
        <p:nvSpPr>
          <p:cNvPr id="8" name="TextBox 7"/>
          <p:cNvSpPr txBox="1"/>
          <p:nvPr/>
        </p:nvSpPr>
        <p:spPr>
          <a:xfrm>
            <a:off x="2697480" y="2331720"/>
            <a:ext cx="868680" cy="320040"/>
          </a:xfrm>
          <a:prstGeom prst="rect">
            <a:avLst/>
          </a:prstGeom>
          <a:noFill/>
        </p:spPr>
        <p:txBody>
          <a:bodyPr wrap="square" lIns="18288" rIns="18288" tIns="0" bIns="0">
            <a:spAutoFit/>
          </a:bodyPr>
          <a:lstStyle/>
          <a:p>
            <a:pPr>
              <a:spcAft>
                <a:spcPts val="900"/>
              </a:spcAft>
              <a:defRPr sz="1200" b="1">
                <a:solidFill>
                  <a:srgbClr val="516774"/>
                </a:solidFill>
                <a:latin typeface="DejaVu Sans"/>
              </a:defRPr>
            </a:pPr>
            <a:r>
              <a:t>RTSP</a:t>
            </a:r>
          </a:p>
        </p:txBody>
      </p:sp>
      <p:sp>
        <p:nvSpPr>
          <p:cNvPr id="9" name="TextBox 8"/>
          <p:cNvSpPr txBox="1"/>
          <p:nvPr/>
        </p:nvSpPr>
        <p:spPr>
          <a:xfrm>
            <a:off x="3611880" y="2331720"/>
            <a:ext cx="868680" cy="320040"/>
          </a:xfrm>
          <a:prstGeom prst="rect">
            <a:avLst/>
          </a:prstGeom>
          <a:noFill/>
        </p:spPr>
        <p:txBody>
          <a:bodyPr wrap="square" lIns="18288" rIns="18288" tIns="0" bIns="0">
            <a:spAutoFit/>
          </a:bodyPr>
          <a:lstStyle/>
          <a:p>
            <a:pPr>
              <a:spcAft>
                <a:spcPts val="900"/>
              </a:spcAft>
              <a:defRPr sz="1200" b="1">
                <a:solidFill>
                  <a:srgbClr val="516774"/>
                </a:solidFill>
                <a:latin typeface="DejaVu Sans"/>
              </a:defRPr>
            </a:pPr>
            <a:r>
              <a:t>Audio</a:t>
            </a:r>
          </a:p>
        </p:txBody>
      </p:sp>
      <p:sp>
        <p:nvSpPr>
          <p:cNvPr id="10" name="TextBox 9"/>
          <p:cNvSpPr txBox="1"/>
          <p:nvPr/>
        </p:nvSpPr>
        <p:spPr>
          <a:xfrm>
            <a:off x="4526280" y="2331720"/>
            <a:ext cx="868680" cy="320040"/>
          </a:xfrm>
          <a:prstGeom prst="rect">
            <a:avLst/>
          </a:prstGeom>
          <a:noFill/>
        </p:spPr>
        <p:txBody>
          <a:bodyPr wrap="square" lIns="18288" rIns="18288" tIns="0" bIns="0">
            <a:spAutoFit/>
          </a:bodyPr>
          <a:lstStyle/>
          <a:p>
            <a:pPr>
              <a:spcAft>
                <a:spcPts val="900"/>
              </a:spcAft>
              <a:defRPr sz="1200" b="1">
                <a:solidFill>
                  <a:srgbClr val="516774"/>
                </a:solidFill>
                <a:latin typeface="DejaVu Sans"/>
              </a:defRPr>
            </a:pPr>
            <a:r>
              <a:t>Other</a:t>
            </a:r>
          </a:p>
        </p:txBody>
      </p:sp>
      <p:sp>
        <p:nvSpPr>
          <p:cNvPr id="11" name="TextBox 10"/>
          <p:cNvSpPr txBox="1"/>
          <p:nvPr/>
        </p:nvSpPr>
        <p:spPr>
          <a:xfrm>
            <a:off x="5440680" y="2331720"/>
            <a:ext cx="868680" cy="320040"/>
          </a:xfrm>
          <a:prstGeom prst="rect">
            <a:avLst/>
          </a:prstGeom>
          <a:noFill/>
        </p:spPr>
        <p:txBody>
          <a:bodyPr wrap="square" lIns="18288" rIns="18288" tIns="0" bIns="0">
            <a:spAutoFit/>
          </a:bodyPr>
          <a:lstStyle/>
          <a:p>
            <a:pPr>
              <a:spcAft>
                <a:spcPts val="900"/>
              </a:spcAft>
              <a:defRPr sz="1200" b="1">
                <a:solidFill>
                  <a:srgbClr val="516774"/>
                </a:solidFill>
                <a:latin typeface="DejaVu Sans"/>
              </a:defRPr>
            </a:pPr>
            <a:r>
              <a:t>Camera</a:t>
            </a:r>
          </a:p>
        </p:txBody>
      </p:sp>
      <p:sp>
        <p:nvSpPr>
          <p:cNvPr id="12" name="TextBox 11"/>
          <p:cNvSpPr txBox="1"/>
          <p:nvPr/>
        </p:nvSpPr>
        <p:spPr>
          <a:xfrm>
            <a:off x="6355080" y="2331720"/>
            <a:ext cx="868680" cy="320040"/>
          </a:xfrm>
          <a:prstGeom prst="rect">
            <a:avLst/>
          </a:prstGeom>
          <a:noFill/>
        </p:spPr>
        <p:txBody>
          <a:bodyPr wrap="square" lIns="18288" rIns="18288" tIns="0" bIns="0">
            <a:spAutoFit/>
          </a:bodyPr>
          <a:lstStyle/>
          <a:p>
            <a:pPr>
              <a:spcAft>
                <a:spcPts val="900"/>
              </a:spcAft>
              <a:defRPr sz="1200" b="1">
                <a:solidFill>
                  <a:srgbClr val="516774"/>
                </a:solidFill>
                <a:latin typeface="DejaVu Sans"/>
              </a:defRPr>
            </a:pPr>
            <a:r>
              <a:t>Home</a:t>
            </a:r>
          </a:p>
        </p:txBody>
      </p:sp>
      <p:sp>
        <p:nvSpPr>
          <p:cNvPr id="13" name="TextBox 12"/>
          <p:cNvSpPr txBox="1"/>
          <p:nvPr/>
        </p:nvSpPr>
        <p:spPr>
          <a:xfrm>
            <a:off x="612648" y="2788920"/>
            <a:ext cx="1078992" cy="320040"/>
          </a:xfrm>
          <a:prstGeom prst="rect">
            <a:avLst/>
          </a:prstGeom>
          <a:noFill/>
        </p:spPr>
        <p:txBody>
          <a:bodyPr wrap="square" lIns="18288" rIns="18288" tIns="0" bIns="0">
            <a:spAutoFit/>
          </a:bodyPr>
          <a:lstStyle/>
          <a:p>
            <a:pPr>
              <a:spcAft>
                <a:spcPts val="900"/>
              </a:spcAft>
              <a:defRPr sz="1300" b="1">
                <a:solidFill>
                  <a:srgbClr val="132C38"/>
                </a:solidFill>
                <a:latin typeface="DejaVu Sans"/>
              </a:defRPr>
            </a:pPr>
            <a:r>
              <a:t>Flood</a:t>
            </a:r>
          </a:p>
        </p:txBody>
      </p:sp>
      <p:sp>
        <p:nvSpPr>
          <p:cNvPr id="14" name="Rectangle 13"/>
          <p:cNvSpPr/>
          <p:nvPr/>
        </p:nvSpPr>
        <p:spPr>
          <a:xfrm>
            <a:off x="1737360" y="2688336"/>
            <a:ext cx="859536" cy="420624"/>
          </a:xfrm>
          <a:prstGeom prst="rect">
            <a:avLst/>
          </a:prstGeom>
          <a:solidFill>
            <a:srgbClr val="1173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29384" y="2761488"/>
            <a:ext cx="585216" cy="320040"/>
          </a:xfrm>
          <a:prstGeom prst="rect">
            <a:avLst/>
          </a:prstGeom>
          <a:noFill/>
        </p:spPr>
        <p:txBody>
          <a:bodyPr wrap="square" lIns="18288" rIns="18288" tIns="0" bIns="0">
            <a:spAutoFit/>
          </a:bodyPr>
          <a:lstStyle/>
          <a:p>
            <a:pPr>
              <a:spcAft>
                <a:spcPts val="900"/>
              </a:spcAft>
              <a:defRPr sz="1900" b="0">
                <a:solidFill>
                  <a:srgbClr val="FFFFFF"/>
                </a:solidFill>
                <a:latin typeface="DejaVu Sans"/>
              </a:defRPr>
            </a:pPr>
            <a:r>
              <a:t>185</a:t>
            </a:r>
          </a:p>
        </p:txBody>
      </p:sp>
      <p:sp>
        <p:nvSpPr>
          <p:cNvPr id="16" name="Rectangle 15"/>
          <p:cNvSpPr/>
          <p:nvPr/>
        </p:nvSpPr>
        <p:spPr>
          <a:xfrm>
            <a:off x="2651760" y="2688336"/>
            <a:ext cx="859536" cy="420624"/>
          </a:xfrm>
          <a:prstGeom prst="rect">
            <a:avLst/>
          </a:prstGeom>
          <a:solidFill>
            <a:srgbClr val="D8E7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43784" y="27614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14</a:t>
            </a:r>
          </a:p>
        </p:txBody>
      </p:sp>
      <p:sp>
        <p:nvSpPr>
          <p:cNvPr id="18" name="Rectangle 17"/>
          <p:cNvSpPr/>
          <p:nvPr/>
        </p:nvSpPr>
        <p:spPr>
          <a:xfrm>
            <a:off x="3566160" y="2688336"/>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58183" y="27614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20" name="Rectangle 19"/>
          <p:cNvSpPr/>
          <p:nvPr/>
        </p:nvSpPr>
        <p:spPr>
          <a:xfrm>
            <a:off x="4480560" y="2688336"/>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72583" y="27614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22" name="Rectangle 21"/>
          <p:cNvSpPr/>
          <p:nvPr/>
        </p:nvSpPr>
        <p:spPr>
          <a:xfrm>
            <a:off x="5394960" y="2688336"/>
            <a:ext cx="859536" cy="420624"/>
          </a:xfrm>
          <a:prstGeom prst="rect">
            <a:avLst/>
          </a:prstGeom>
          <a:solidFill>
            <a:srgbClr val="E7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86983" y="27614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1</a:t>
            </a:r>
          </a:p>
        </p:txBody>
      </p:sp>
      <p:sp>
        <p:nvSpPr>
          <p:cNvPr id="24" name="Rectangle 23"/>
          <p:cNvSpPr/>
          <p:nvPr/>
        </p:nvSpPr>
        <p:spPr>
          <a:xfrm>
            <a:off x="6309360" y="2688336"/>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1383" y="27614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26" name="TextBox 25"/>
          <p:cNvSpPr txBox="1"/>
          <p:nvPr/>
        </p:nvSpPr>
        <p:spPr>
          <a:xfrm>
            <a:off x="612648" y="3246120"/>
            <a:ext cx="1078992" cy="320040"/>
          </a:xfrm>
          <a:prstGeom prst="rect">
            <a:avLst/>
          </a:prstGeom>
          <a:noFill/>
        </p:spPr>
        <p:txBody>
          <a:bodyPr wrap="square" lIns="18288" rIns="18288" tIns="0" bIns="0">
            <a:spAutoFit/>
          </a:bodyPr>
          <a:lstStyle/>
          <a:p>
            <a:pPr>
              <a:spcAft>
                <a:spcPts val="900"/>
              </a:spcAft>
              <a:defRPr sz="1300" b="1">
                <a:solidFill>
                  <a:srgbClr val="132C38"/>
                </a:solidFill>
                <a:latin typeface="DejaVu Sans"/>
              </a:defRPr>
            </a:pPr>
            <a:r>
              <a:t>RTSP</a:t>
            </a:r>
          </a:p>
        </p:txBody>
      </p:sp>
      <p:sp>
        <p:nvSpPr>
          <p:cNvPr id="27" name="Rectangle 26"/>
          <p:cNvSpPr/>
          <p:nvPr/>
        </p:nvSpPr>
        <p:spPr>
          <a:xfrm>
            <a:off x="1737360" y="3145536"/>
            <a:ext cx="859536" cy="420624"/>
          </a:xfrm>
          <a:prstGeom prst="rect">
            <a:avLst/>
          </a:prstGeom>
          <a:solidFill>
            <a:srgbClr val="E7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29384" y="32186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1</a:t>
            </a:r>
          </a:p>
        </p:txBody>
      </p:sp>
      <p:sp>
        <p:nvSpPr>
          <p:cNvPr id="29" name="Rectangle 28"/>
          <p:cNvSpPr/>
          <p:nvPr/>
        </p:nvSpPr>
        <p:spPr>
          <a:xfrm>
            <a:off x="2651760" y="3145536"/>
            <a:ext cx="859536" cy="420624"/>
          </a:xfrm>
          <a:prstGeom prst="rect">
            <a:avLst/>
          </a:prstGeom>
          <a:solidFill>
            <a:srgbClr val="016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43784" y="3218688"/>
            <a:ext cx="585216" cy="320040"/>
          </a:xfrm>
          <a:prstGeom prst="rect">
            <a:avLst/>
          </a:prstGeom>
          <a:noFill/>
        </p:spPr>
        <p:txBody>
          <a:bodyPr wrap="square" lIns="18288" rIns="18288" tIns="0" bIns="0">
            <a:spAutoFit/>
          </a:bodyPr>
          <a:lstStyle/>
          <a:p>
            <a:pPr>
              <a:spcAft>
                <a:spcPts val="900"/>
              </a:spcAft>
              <a:defRPr sz="1900" b="0">
                <a:solidFill>
                  <a:srgbClr val="FFFFFF"/>
                </a:solidFill>
                <a:latin typeface="DejaVu Sans"/>
              </a:defRPr>
            </a:pPr>
            <a:r>
              <a:t>199</a:t>
            </a:r>
          </a:p>
        </p:txBody>
      </p:sp>
      <p:sp>
        <p:nvSpPr>
          <p:cNvPr id="31" name="Rectangle 30"/>
          <p:cNvSpPr/>
          <p:nvPr/>
        </p:nvSpPr>
        <p:spPr>
          <a:xfrm>
            <a:off x="3566160" y="3145536"/>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58183" y="32186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33" name="Rectangle 32"/>
          <p:cNvSpPr/>
          <p:nvPr/>
        </p:nvSpPr>
        <p:spPr>
          <a:xfrm>
            <a:off x="4480560" y="3145536"/>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72583" y="32186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35" name="Rectangle 34"/>
          <p:cNvSpPr/>
          <p:nvPr/>
        </p:nvSpPr>
        <p:spPr>
          <a:xfrm>
            <a:off x="5394960" y="3145536"/>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86983" y="32186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37" name="Rectangle 36"/>
          <p:cNvSpPr/>
          <p:nvPr/>
        </p:nvSpPr>
        <p:spPr>
          <a:xfrm>
            <a:off x="6309360" y="3145536"/>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01383" y="32186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39" name="TextBox 38"/>
          <p:cNvSpPr txBox="1"/>
          <p:nvPr/>
        </p:nvSpPr>
        <p:spPr>
          <a:xfrm>
            <a:off x="612648" y="3703320"/>
            <a:ext cx="1078992" cy="320040"/>
          </a:xfrm>
          <a:prstGeom prst="rect">
            <a:avLst/>
          </a:prstGeom>
          <a:noFill/>
        </p:spPr>
        <p:txBody>
          <a:bodyPr wrap="square" lIns="18288" rIns="18288" tIns="0" bIns="0">
            <a:spAutoFit/>
          </a:bodyPr>
          <a:lstStyle/>
          <a:p>
            <a:pPr>
              <a:spcAft>
                <a:spcPts val="900"/>
              </a:spcAft>
              <a:defRPr sz="1300" b="1">
                <a:solidFill>
                  <a:srgbClr val="132C38"/>
                </a:solidFill>
                <a:latin typeface="DejaVu Sans"/>
              </a:defRPr>
            </a:pPr>
            <a:r>
              <a:t>Audio</a:t>
            </a:r>
          </a:p>
        </p:txBody>
      </p:sp>
      <p:sp>
        <p:nvSpPr>
          <p:cNvPr id="40" name="Rectangle 39"/>
          <p:cNvSpPr/>
          <p:nvPr/>
        </p:nvSpPr>
        <p:spPr>
          <a:xfrm>
            <a:off x="1737360" y="3602736"/>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29384" y="3675887"/>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42" name="Rectangle 41"/>
          <p:cNvSpPr/>
          <p:nvPr/>
        </p:nvSpPr>
        <p:spPr>
          <a:xfrm>
            <a:off x="2651760" y="3602736"/>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43784" y="3675887"/>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44" name="Rectangle 43"/>
          <p:cNvSpPr/>
          <p:nvPr/>
        </p:nvSpPr>
        <p:spPr>
          <a:xfrm>
            <a:off x="3566160" y="3602736"/>
            <a:ext cx="859536" cy="420624"/>
          </a:xfrm>
          <a:prstGeom prst="rect">
            <a:avLst/>
          </a:prstGeom>
          <a:solidFill>
            <a:srgbClr val="1173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758183" y="3675887"/>
            <a:ext cx="585216" cy="320040"/>
          </a:xfrm>
          <a:prstGeom prst="rect">
            <a:avLst/>
          </a:prstGeom>
          <a:noFill/>
        </p:spPr>
        <p:txBody>
          <a:bodyPr wrap="square" lIns="18288" rIns="18288" tIns="0" bIns="0">
            <a:spAutoFit/>
          </a:bodyPr>
          <a:lstStyle/>
          <a:p>
            <a:pPr>
              <a:spcAft>
                <a:spcPts val="900"/>
              </a:spcAft>
              <a:defRPr sz="1900" b="0">
                <a:solidFill>
                  <a:srgbClr val="FFFFFF"/>
                </a:solidFill>
                <a:latin typeface="DejaVu Sans"/>
              </a:defRPr>
            </a:pPr>
            <a:r>
              <a:t>185</a:t>
            </a:r>
          </a:p>
        </p:txBody>
      </p:sp>
      <p:sp>
        <p:nvSpPr>
          <p:cNvPr id="46" name="Rectangle 45"/>
          <p:cNvSpPr/>
          <p:nvPr/>
        </p:nvSpPr>
        <p:spPr>
          <a:xfrm>
            <a:off x="4480560" y="3602736"/>
            <a:ext cx="859536" cy="420624"/>
          </a:xfrm>
          <a:prstGeom prst="rect">
            <a:avLst/>
          </a:prstGeom>
          <a:solidFill>
            <a:srgbClr val="E7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72583" y="3675887"/>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1</a:t>
            </a:r>
          </a:p>
        </p:txBody>
      </p:sp>
      <p:sp>
        <p:nvSpPr>
          <p:cNvPr id="48" name="Rectangle 47"/>
          <p:cNvSpPr/>
          <p:nvPr/>
        </p:nvSpPr>
        <p:spPr>
          <a:xfrm>
            <a:off x="5394960" y="3602736"/>
            <a:ext cx="859536" cy="420624"/>
          </a:xfrm>
          <a:prstGeom prst="rect">
            <a:avLst/>
          </a:prstGeom>
          <a:solidFill>
            <a:srgbClr val="DAE9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86983" y="3675887"/>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12</a:t>
            </a:r>
          </a:p>
        </p:txBody>
      </p:sp>
      <p:sp>
        <p:nvSpPr>
          <p:cNvPr id="50" name="Rectangle 49"/>
          <p:cNvSpPr/>
          <p:nvPr/>
        </p:nvSpPr>
        <p:spPr>
          <a:xfrm>
            <a:off x="6309360" y="3602736"/>
            <a:ext cx="859536" cy="420624"/>
          </a:xfrm>
          <a:prstGeom prst="rect">
            <a:avLst/>
          </a:prstGeom>
          <a:solidFill>
            <a:srgbClr val="E6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01383" y="3675887"/>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2</a:t>
            </a:r>
          </a:p>
        </p:txBody>
      </p:sp>
      <p:sp>
        <p:nvSpPr>
          <p:cNvPr id="52" name="TextBox 51"/>
          <p:cNvSpPr txBox="1"/>
          <p:nvPr/>
        </p:nvSpPr>
        <p:spPr>
          <a:xfrm>
            <a:off x="612648" y="4160520"/>
            <a:ext cx="1078992" cy="320040"/>
          </a:xfrm>
          <a:prstGeom prst="rect">
            <a:avLst/>
          </a:prstGeom>
          <a:noFill/>
        </p:spPr>
        <p:txBody>
          <a:bodyPr wrap="square" lIns="18288" rIns="18288" tIns="0" bIns="0">
            <a:spAutoFit/>
          </a:bodyPr>
          <a:lstStyle/>
          <a:p>
            <a:pPr>
              <a:spcAft>
                <a:spcPts val="900"/>
              </a:spcAft>
              <a:defRPr sz="1300" b="1">
                <a:solidFill>
                  <a:srgbClr val="132C38"/>
                </a:solidFill>
                <a:latin typeface="DejaVu Sans"/>
              </a:defRPr>
            </a:pPr>
            <a:r>
              <a:t>Other</a:t>
            </a:r>
          </a:p>
        </p:txBody>
      </p:sp>
      <p:sp>
        <p:nvSpPr>
          <p:cNvPr id="53" name="Rectangle 52"/>
          <p:cNvSpPr/>
          <p:nvPr/>
        </p:nvSpPr>
        <p:spPr>
          <a:xfrm>
            <a:off x="1737360" y="4059935"/>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929384" y="4133087"/>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55" name="Rectangle 54"/>
          <p:cNvSpPr/>
          <p:nvPr/>
        </p:nvSpPr>
        <p:spPr>
          <a:xfrm>
            <a:off x="2651760" y="4059935"/>
            <a:ext cx="859536" cy="420624"/>
          </a:xfrm>
          <a:prstGeom prst="rect">
            <a:avLst/>
          </a:prstGeom>
          <a:solidFill>
            <a:srgbClr val="E7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43784" y="4133087"/>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1</a:t>
            </a:r>
          </a:p>
        </p:txBody>
      </p:sp>
      <p:sp>
        <p:nvSpPr>
          <p:cNvPr id="57" name="Rectangle 56"/>
          <p:cNvSpPr/>
          <p:nvPr/>
        </p:nvSpPr>
        <p:spPr>
          <a:xfrm>
            <a:off x="3566160" y="4059935"/>
            <a:ext cx="859536" cy="420624"/>
          </a:xfrm>
          <a:prstGeom prst="rect">
            <a:avLst/>
          </a:prstGeom>
          <a:solidFill>
            <a:srgbClr val="E7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58183" y="4133087"/>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1</a:t>
            </a:r>
          </a:p>
        </p:txBody>
      </p:sp>
      <p:sp>
        <p:nvSpPr>
          <p:cNvPr id="59" name="Rectangle 58"/>
          <p:cNvSpPr/>
          <p:nvPr/>
        </p:nvSpPr>
        <p:spPr>
          <a:xfrm>
            <a:off x="4480560" y="4059935"/>
            <a:ext cx="859536" cy="420624"/>
          </a:xfrm>
          <a:prstGeom prst="rect">
            <a:avLst/>
          </a:prstGeom>
          <a:solidFill>
            <a:srgbClr val="BDD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672583" y="4133087"/>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37</a:t>
            </a:r>
          </a:p>
        </p:txBody>
      </p:sp>
      <p:sp>
        <p:nvSpPr>
          <p:cNvPr id="61" name="Rectangle 60"/>
          <p:cNvSpPr/>
          <p:nvPr/>
        </p:nvSpPr>
        <p:spPr>
          <a:xfrm>
            <a:off x="5394960" y="4059935"/>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586983" y="4133087"/>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63" name="Rectangle 62"/>
          <p:cNvSpPr/>
          <p:nvPr/>
        </p:nvSpPr>
        <p:spPr>
          <a:xfrm>
            <a:off x="6309360" y="4059935"/>
            <a:ext cx="859536" cy="420624"/>
          </a:xfrm>
          <a:prstGeom prst="rect">
            <a:avLst/>
          </a:prstGeom>
          <a:solidFill>
            <a:srgbClr val="E6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501383" y="4133087"/>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2</a:t>
            </a:r>
          </a:p>
        </p:txBody>
      </p:sp>
      <p:sp>
        <p:nvSpPr>
          <p:cNvPr id="65" name="TextBox 64"/>
          <p:cNvSpPr txBox="1"/>
          <p:nvPr/>
        </p:nvSpPr>
        <p:spPr>
          <a:xfrm>
            <a:off x="612648" y="4617720"/>
            <a:ext cx="1078992" cy="320040"/>
          </a:xfrm>
          <a:prstGeom prst="rect">
            <a:avLst/>
          </a:prstGeom>
          <a:noFill/>
        </p:spPr>
        <p:txBody>
          <a:bodyPr wrap="square" lIns="18288" rIns="18288" tIns="0" bIns="0">
            <a:spAutoFit/>
          </a:bodyPr>
          <a:lstStyle/>
          <a:p>
            <a:pPr>
              <a:spcAft>
                <a:spcPts val="900"/>
              </a:spcAft>
              <a:defRPr sz="1300" b="1">
                <a:solidFill>
                  <a:srgbClr val="132C38"/>
                </a:solidFill>
                <a:latin typeface="DejaVu Sans"/>
              </a:defRPr>
            </a:pPr>
            <a:r>
              <a:t>Camera</a:t>
            </a:r>
          </a:p>
        </p:txBody>
      </p:sp>
      <p:sp>
        <p:nvSpPr>
          <p:cNvPr id="66" name="Rectangle 65"/>
          <p:cNvSpPr/>
          <p:nvPr/>
        </p:nvSpPr>
        <p:spPr>
          <a:xfrm>
            <a:off x="1737360" y="4517136"/>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929384" y="45902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68" name="Rectangle 67"/>
          <p:cNvSpPr/>
          <p:nvPr/>
        </p:nvSpPr>
        <p:spPr>
          <a:xfrm>
            <a:off x="2651760" y="4517136"/>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43784" y="45902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70" name="Rectangle 69"/>
          <p:cNvSpPr/>
          <p:nvPr/>
        </p:nvSpPr>
        <p:spPr>
          <a:xfrm>
            <a:off x="3566160" y="4517136"/>
            <a:ext cx="859536" cy="420624"/>
          </a:xfrm>
          <a:prstGeom prst="rect">
            <a:avLst/>
          </a:prstGeom>
          <a:solidFill>
            <a:srgbClr val="E0EC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758183" y="45902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7</a:t>
            </a:r>
          </a:p>
        </p:txBody>
      </p:sp>
      <p:sp>
        <p:nvSpPr>
          <p:cNvPr id="72" name="Rectangle 71"/>
          <p:cNvSpPr/>
          <p:nvPr/>
        </p:nvSpPr>
        <p:spPr>
          <a:xfrm>
            <a:off x="4480560" y="4517136"/>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672583" y="45902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74" name="Rectangle 73"/>
          <p:cNvSpPr/>
          <p:nvPr/>
        </p:nvSpPr>
        <p:spPr>
          <a:xfrm>
            <a:off x="5394960" y="4517136"/>
            <a:ext cx="859536" cy="420624"/>
          </a:xfrm>
          <a:prstGeom prst="rect">
            <a:avLst/>
          </a:prstGeom>
          <a:solidFill>
            <a:srgbClr val="25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586983" y="4590288"/>
            <a:ext cx="585216" cy="320040"/>
          </a:xfrm>
          <a:prstGeom prst="rect">
            <a:avLst/>
          </a:prstGeom>
          <a:noFill/>
        </p:spPr>
        <p:txBody>
          <a:bodyPr wrap="square" lIns="18288" rIns="18288" tIns="0" bIns="0">
            <a:spAutoFit/>
          </a:bodyPr>
          <a:lstStyle/>
          <a:p>
            <a:pPr>
              <a:spcAft>
                <a:spcPts val="900"/>
              </a:spcAft>
              <a:defRPr sz="1900" b="0">
                <a:solidFill>
                  <a:srgbClr val="FFFFFF"/>
                </a:solidFill>
                <a:latin typeface="DejaVu Sans"/>
              </a:defRPr>
            </a:pPr>
            <a:r>
              <a:t>168</a:t>
            </a:r>
          </a:p>
        </p:txBody>
      </p:sp>
      <p:sp>
        <p:nvSpPr>
          <p:cNvPr id="76" name="Rectangle 75"/>
          <p:cNvSpPr/>
          <p:nvPr/>
        </p:nvSpPr>
        <p:spPr>
          <a:xfrm>
            <a:off x="6309360" y="4517136"/>
            <a:ext cx="859536" cy="420624"/>
          </a:xfrm>
          <a:prstGeom prst="rect">
            <a:avLst/>
          </a:prstGeom>
          <a:solidFill>
            <a:srgbClr val="CBE0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501383" y="45902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25</a:t>
            </a:r>
          </a:p>
        </p:txBody>
      </p:sp>
      <p:sp>
        <p:nvSpPr>
          <p:cNvPr id="78" name="TextBox 77"/>
          <p:cNvSpPr txBox="1"/>
          <p:nvPr/>
        </p:nvSpPr>
        <p:spPr>
          <a:xfrm>
            <a:off x="612648" y="5074920"/>
            <a:ext cx="1078992" cy="320040"/>
          </a:xfrm>
          <a:prstGeom prst="rect">
            <a:avLst/>
          </a:prstGeom>
          <a:noFill/>
        </p:spPr>
        <p:txBody>
          <a:bodyPr wrap="square" lIns="18288" rIns="18288" tIns="0" bIns="0">
            <a:spAutoFit/>
          </a:bodyPr>
          <a:lstStyle/>
          <a:p>
            <a:pPr>
              <a:spcAft>
                <a:spcPts val="900"/>
              </a:spcAft>
              <a:defRPr sz="1300" b="1">
                <a:solidFill>
                  <a:srgbClr val="132C38"/>
                </a:solidFill>
                <a:latin typeface="DejaVu Sans"/>
              </a:defRPr>
            </a:pPr>
            <a:r>
              <a:t>Home</a:t>
            </a:r>
          </a:p>
        </p:txBody>
      </p:sp>
      <p:sp>
        <p:nvSpPr>
          <p:cNvPr id="79" name="Rectangle 78"/>
          <p:cNvSpPr/>
          <p:nvPr/>
        </p:nvSpPr>
        <p:spPr>
          <a:xfrm>
            <a:off x="1737360" y="4974336"/>
            <a:ext cx="859536" cy="420624"/>
          </a:xfrm>
          <a:prstGeom prst="rect">
            <a:avLst/>
          </a:prstGeom>
          <a:solidFill>
            <a:srgbClr val="E7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929384" y="50474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1</a:t>
            </a:r>
          </a:p>
        </p:txBody>
      </p:sp>
      <p:sp>
        <p:nvSpPr>
          <p:cNvPr id="81" name="Rectangle 80"/>
          <p:cNvSpPr/>
          <p:nvPr/>
        </p:nvSpPr>
        <p:spPr>
          <a:xfrm>
            <a:off x="2651760" y="4974336"/>
            <a:ext cx="859536" cy="420624"/>
          </a:xfrm>
          <a:prstGeom prst="rect">
            <a:avLst/>
          </a:prstGeom>
          <a:solidFill>
            <a:srgbClr val="E7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43784" y="50474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1</a:t>
            </a:r>
          </a:p>
        </p:txBody>
      </p:sp>
      <p:sp>
        <p:nvSpPr>
          <p:cNvPr id="83" name="Rectangle 82"/>
          <p:cNvSpPr/>
          <p:nvPr/>
        </p:nvSpPr>
        <p:spPr>
          <a:xfrm>
            <a:off x="3566160" y="4974336"/>
            <a:ext cx="859536" cy="420624"/>
          </a:xfrm>
          <a:prstGeom prst="rect">
            <a:avLst/>
          </a:prstGeom>
          <a:solidFill>
            <a:srgbClr val="E1ED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758183" y="50474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6</a:t>
            </a:r>
          </a:p>
        </p:txBody>
      </p:sp>
      <p:sp>
        <p:nvSpPr>
          <p:cNvPr id="85" name="Rectangle 84"/>
          <p:cNvSpPr/>
          <p:nvPr/>
        </p:nvSpPr>
        <p:spPr>
          <a:xfrm>
            <a:off x="4480560" y="4974336"/>
            <a:ext cx="859536" cy="420624"/>
          </a:xfrm>
          <a:prstGeom prst="rect">
            <a:avLst/>
          </a:prstGeom>
          <a:solidFill>
            <a:srgbClr val="E8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672583" y="50474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0</a:t>
            </a:r>
          </a:p>
        </p:txBody>
      </p:sp>
      <p:sp>
        <p:nvSpPr>
          <p:cNvPr id="87" name="Rectangle 86"/>
          <p:cNvSpPr/>
          <p:nvPr/>
        </p:nvSpPr>
        <p:spPr>
          <a:xfrm>
            <a:off x="5394960" y="4974336"/>
            <a:ext cx="859536" cy="420624"/>
          </a:xfrm>
          <a:prstGeom prst="rect">
            <a:avLst/>
          </a:prstGeom>
          <a:solidFill>
            <a:srgbClr val="D5E6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586983" y="5047488"/>
            <a:ext cx="585216" cy="32004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16</a:t>
            </a:r>
          </a:p>
        </p:txBody>
      </p:sp>
      <p:sp>
        <p:nvSpPr>
          <p:cNvPr id="89" name="Rectangle 88"/>
          <p:cNvSpPr/>
          <p:nvPr/>
        </p:nvSpPr>
        <p:spPr>
          <a:xfrm>
            <a:off x="6309360" y="4974336"/>
            <a:ext cx="859536" cy="420624"/>
          </a:xfrm>
          <a:prstGeom prst="rect">
            <a:avLst/>
          </a:prstGeom>
          <a:solidFill>
            <a:srgbClr val="1C7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501383" y="5047488"/>
            <a:ext cx="585216" cy="320040"/>
          </a:xfrm>
          <a:prstGeom prst="rect">
            <a:avLst/>
          </a:prstGeom>
          <a:noFill/>
        </p:spPr>
        <p:txBody>
          <a:bodyPr wrap="square" lIns="18288" rIns="18288" tIns="0" bIns="0">
            <a:spAutoFit/>
          </a:bodyPr>
          <a:lstStyle/>
          <a:p>
            <a:pPr>
              <a:spcAft>
                <a:spcPts val="900"/>
              </a:spcAft>
              <a:defRPr sz="1900" b="0">
                <a:solidFill>
                  <a:srgbClr val="FFFFFF"/>
                </a:solidFill>
                <a:latin typeface="DejaVu Sans"/>
              </a:defRPr>
            </a:pPr>
            <a:r>
              <a:t>176</a:t>
            </a:r>
          </a:p>
        </p:txBody>
      </p:sp>
      <p:sp>
        <p:nvSpPr>
          <p:cNvPr id="91" name="TextBox 90"/>
          <p:cNvSpPr txBox="1"/>
          <p:nvPr/>
        </p:nvSpPr>
        <p:spPr>
          <a:xfrm>
            <a:off x="7680960" y="2423160"/>
            <a:ext cx="3611880" cy="320040"/>
          </a:xfrm>
          <a:prstGeom prst="rect">
            <a:avLst/>
          </a:prstGeom>
          <a:noFill/>
        </p:spPr>
        <p:txBody>
          <a:bodyPr wrap="square" lIns="18288" rIns="18288" tIns="0" bIns="0">
            <a:spAutoFit/>
          </a:bodyPr>
          <a:lstStyle/>
          <a:p>
            <a:pPr>
              <a:spcAft>
                <a:spcPts val="900"/>
              </a:spcAft>
              <a:defRPr sz="1400" b="0">
                <a:solidFill>
                  <a:srgbClr val="516774"/>
                </a:solidFill>
                <a:latin typeface="DejaVu Sans"/>
              </a:defRPr>
            </a:pPr>
            <a:r>
              <a:t>Seed 0 accuracy</a:t>
            </a:r>
          </a:p>
        </p:txBody>
      </p:sp>
      <p:sp>
        <p:nvSpPr>
          <p:cNvPr id="92" name="TextBox 91"/>
          <p:cNvSpPr txBox="1"/>
          <p:nvPr/>
        </p:nvSpPr>
        <p:spPr>
          <a:xfrm>
            <a:off x="7680960" y="2761488"/>
            <a:ext cx="3611880" cy="548640"/>
          </a:xfrm>
          <a:prstGeom prst="rect">
            <a:avLst/>
          </a:prstGeom>
          <a:noFill/>
        </p:spPr>
        <p:txBody>
          <a:bodyPr wrap="square" lIns="18288" rIns="18288" tIns="0" bIns="0">
            <a:spAutoFit/>
          </a:bodyPr>
          <a:lstStyle/>
          <a:p>
            <a:pPr>
              <a:spcAft>
                <a:spcPts val="900"/>
              </a:spcAft>
              <a:defRPr sz="2600" b="1">
                <a:solidFill>
                  <a:srgbClr val="007C78"/>
                </a:solidFill>
                <a:latin typeface="DejaVu Sans"/>
              </a:defRPr>
            </a:pPr>
            <a:r>
              <a:t>91.26%</a:t>
            </a:r>
          </a:p>
        </p:txBody>
      </p:sp>
      <p:sp>
        <p:nvSpPr>
          <p:cNvPr id="93" name="TextBox 92"/>
          <p:cNvSpPr txBox="1"/>
          <p:nvPr/>
        </p:nvSpPr>
        <p:spPr>
          <a:xfrm>
            <a:off x="7680960" y="3374136"/>
            <a:ext cx="3611880" cy="320040"/>
          </a:xfrm>
          <a:prstGeom prst="rect">
            <a:avLst/>
          </a:prstGeom>
          <a:noFill/>
        </p:spPr>
        <p:txBody>
          <a:bodyPr wrap="square" lIns="18288" rIns="18288" tIns="0" bIns="0">
            <a:spAutoFit/>
          </a:bodyPr>
          <a:lstStyle/>
          <a:p>
            <a:pPr>
              <a:spcAft>
                <a:spcPts val="900"/>
              </a:spcAft>
              <a:defRPr sz="1400" b="0">
                <a:solidFill>
                  <a:srgbClr val="516774"/>
                </a:solidFill>
                <a:latin typeface="DejaVu Sans"/>
              </a:defRPr>
            </a:pPr>
            <a:r>
              <a:t>Seed 0 macro F1</a:t>
            </a:r>
          </a:p>
        </p:txBody>
      </p:sp>
      <p:sp>
        <p:nvSpPr>
          <p:cNvPr id="94" name="TextBox 93"/>
          <p:cNvSpPr txBox="1"/>
          <p:nvPr/>
        </p:nvSpPr>
        <p:spPr>
          <a:xfrm>
            <a:off x="7680960" y="3712464"/>
            <a:ext cx="3611880" cy="548640"/>
          </a:xfrm>
          <a:prstGeom prst="rect">
            <a:avLst/>
          </a:prstGeom>
          <a:noFill/>
        </p:spPr>
        <p:txBody>
          <a:bodyPr wrap="square" lIns="18288" rIns="18288" tIns="0" bIns="0">
            <a:spAutoFit/>
          </a:bodyPr>
          <a:lstStyle/>
          <a:p>
            <a:pPr>
              <a:spcAft>
                <a:spcPts val="900"/>
              </a:spcAft>
              <a:defRPr sz="2600" b="1">
                <a:solidFill>
                  <a:srgbClr val="007C78"/>
                </a:solidFill>
                <a:latin typeface="DejaVu Sans"/>
              </a:defRPr>
            </a:pPr>
            <a:r>
              <a:t>91.58%</a:t>
            </a:r>
          </a:p>
        </p:txBody>
      </p:sp>
      <p:sp>
        <p:nvSpPr>
          <p:cNvPr id="95" name="TextBox 94"/>
          <p:cNvSpPr txBox="1"/>
          <p:nvPr/>
        </p:nvSpPr>
        <p:spPr>
          <a:xfrm>
            <a:off x="7680960" y="4325112"/>
            <a:ext cx="3611880" cy="320040"/>
          </a:xfrm>
          <a:prstGeom prst="rect">
            <a:avLst/>
          </a:prstGeom>
          <a:noFill/>
        </p:spPr>
        <p:txBody>
          <a:bodyPr wrap="square" lIns="18288" rIns="18288" tIns="0" bIns="0">
            <a:spAutoFit/>
          </a:bodyPr>
          <a:lstStyle/>
          <a:p>
            <a:pPr>
              <a:spcAft>
                <a:spcPts val="900"/>
              </a:spcAft>
              <a:defRPr sz="1400" b="0">
                <a:solidFill>
                  <a:srgbClr val="516774"/>
                </a:solidFill>
                <a:latin typeface="DejaVu Sans"/>
              </a:defRPr>
            </a:pPr>
            <a:r>
              <a:t>Test examples</a:t>
            </a:r>
          </a:p>
        </p:txBody>
      </p:sp>
      <p:sp>
        <p:nvSpPr>
          <p:cNvPr id="96" name="TextBox 95"/>
          <p:cNvSpPr txBox="1"/>
          <p:nvPr/>
        </p:nvSpPr>
        <p:spPr>
          <a:xfrm>
            <a:off x="7680960" y="4663440"/>
            <a:ext cx="3611880" cy="548640"/>
          </a:xfrm>
          <a:prstGeom prst="rect">
            <a:avLst/>
          </a:prstGeom>
          <a:noFill/>
        </p:spPr>
        <p:txBody>
          <a:bodyPr wrap="square" lIns="18288" rIns="18288" tIns="0" bIns="0">
            <a:spAutoFit/>
          </a:bodyPr>
          <a:lstStyle/>
          <a:p>
            <a:pPr>
              <a:spcAft>
                <a:spcPts val="900"/>
              </a:spcAft>
              <a:defRPr sz="2600" b="1">
                <a:solidFill>
                  <a:srgbClr val="007C78"/>
                </a:solidFill>
                <a:latin typeface="DejaVu Sans"/>
              </a:defRPr>
            </a:pPr>
            <a:r>
              <a:t>1,041 flows / six classes</a:t>
            </a:r>
          </a:p>
        </p:txBody>
      </p:sp>
      <p:sp>
        <p:nvSpPr>
          <p:cNvPr id="97" name="Rectangle 96"/>
          <p:cNvSpPr/>
          <p:nvPr/>
        </p:nvSpPr>
        <p:spPr>
          <a:xfrm>
            <a:off x="594360" y="5806440"/>
            <a:ext cx="11000232" cy="512064"/>
          </a:xfrm>
          <a:prstGeom prst="rect">
            <a:avLst/>
          </a:prstGeom>
          <a:solidFill>
            <a:srgbClr val="E0E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31520" y="5897880"/>
            <a:ext cx="10735056" cy="365760"/>
          </a:xfrm>
          <a:prstGeom prst="rect">
            <a:avLst/>
          </a:prstGeom>
          <a:noFill/>
        </p:spPr>
        <p:txBody>
          <a:bodyPr wrap="square" lIns="18288" rIns="18288" tIns="0" bIns="0">
            <a:spAutoFit/>
          </a:bodyPr>
          <a:lstStyle/>
          <a:p>
            <a:pPr>
              <a:spcAft>
                <a:spcPts val="900"/>
              </a:spcAft>
              <a:defRPr sz="1250" b="0">
                <a:solidFill>
                  <a:srgbClr val="132C38"/>
                </a:solidFill>
                <a:latin typeface="DejaVu Sans"/>
              </a:defRPr>
            </a:pPr>
            <a:r>
              <a:t>The smallest test class contains 41 flows. Keep per-class support and recall beside the overall score.</a:t>
            </a:r>
          </a:p>
        </p:txBody>
      </p:sp>
      <p:sp>
        <p:nvSpPr>
          <p:cNvPr id="99" name="TextBox 98"/>
          <p:cNvSpPr txBox="1"/>
          <p:nvPr/>
        </p:nvSpPr>
        <p:spPr>
          <a:xfrm>
            <a:off x="594360" y="6519672"/>
            <a:ext cx="10424160" cy="182880"/>
          </a:xfrm>
          <a:prstGeom prst="rect">
            <a:avLst/>
          </a:prstGeom>
          <a:noFill/>
        </p:spPr>
        <p:txBody>
          <a:bodyPr wrap="square" lIns="18288" rIns="18288" tIns="0" bIns="0">
            <a:spAutoFit/>
          </a:bodyPr>
          <a:lstStyle/>
          <a:p>
            <a:pPr>
              <a:spcAft>
                <a:spcPts val="900"/>
              </a:spcAft>
              <a:defRPr sz="900" b="0">
                <a:solidFill>
                  <a:srgbClr val="516774"/>
                </a:solidFill>
                <a:latin typeface="DejaVu Sans"/>
              </a:defRPr>
            </a:pPr>
            <a:r>
              <a:rPr>
                <a:hlinkClick r:id="rId3"/>
              </a:rPr>
              <a:t>NETMAMBA+  /  MEASURED RESEARCH  /  15 September 2026</a:t>
            </a:r>
          </a:p>
        </p:txBody>
      </p:sp>
      <p:sp>
        <p:nvSpPr>
          <p:cNvPr id="100" name="TextBox 99"/>
          <p:cNvSpPr txBox="1"/>
          <p:nvPr/>
        </p:nvSpPr>
        <p:spPr>
          <a:xfrm>
            <a:off x="11155680" y="6473952"/>
            <a:ext cx="457200" cy="228600"/>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38328"/>
            <a:ext cx="10789920" cy="274320"/>
          </a:xfrm>
          <a:prstGeom prst="rect">
            <a:avLst/>
          </a:prstGeom>
          <a:noFill/>
        </p:spPr>
        <p:txBody>
          <a:bodyPr wrap="square" lIns="18288" rIns="18288" tIns="0" bIns="0">
            <a:spAutoFit/>
          </a:bodyPr>
          <a:lstStyle/>
          <a:p>
            <a:pPr>
              <a:spcAft>
                <a:spcPts val="900"/>
              </a:spcAft>
              <a:defRPr sz="1100" b="1">
                <a:solidFill>
                  <a:srgbClr val="007C78"/>
                </a:solidFill>
                <a:latin typeface="DejaVu Sans"/>
              </a:defRPr>
            </a:pPr>
            <a:r>
              <a:t>07 / WORKING DEMONSTRATION</a:t>
            </a:r>
          </a:p>
        </p:txBody>
      </p:sp>
      <p:sp>
        <p:nvSpPr>
          <p:cNvPr id="4" name="TextBox 3"/>
          <p:cNvSpPr txBox="1"/>
          <p:nvPr/>
        </p:nvSpPr>
        <p:spPr>
          <a:xfrm>
            <a:off x="594360" y="841248"/>
            <a:ext cx="10972800" cy="621792"/>
          </a:xfrm>
          <a:prstGeom prst="rect">
            <a:avLst/>
          </a:prstGeom>
          <a:noFill/>
        </p:spPr>
        <p:txBody>
          <a:bodyPr wrap="square" lIns="18288" rIns="18288" tIns="0" bIns="0">
            <a:spAutoFit/>
          </a:bodyPr>
          <a:lstStyle/>
          <a:p>
            <a:pPr>
              <a:spcAft>
                <a:spcPts val="900"/>
              </a:spcAft>
              <a:defRPr sz="3400" b="0">
                <a:solidFill>
                  <a:srgbClr val="132C38"/>
                </a:solidFill>
                <a:latin typeface="Liberation Serif"/>
              </a:defRPr>
            </a:pPr>
            <a:r>
              <a:t>Replay actual saved-classifier predictions</a:t>
            </a:r>
          </a:p>
        </p:txBody>
      </p:sp>
      <p:sp>
        <p:nvSpPr>
          <p:cNvPr id="5" name="TextBox 4"/>
          <p:cNvSpPr txBox="1"/>
          <p:nvPr/>
        </p:nvSpPr>
        <p:spPr>
          <a:xfrm>
            <a:off x="594360" y="1600200"/>
            <a:ext cx="10881360" cy="548640"/>
          </a:xfrm>
          <a:prstGeom prst="rect">
            <a:avLst/>
          </a:prstGeom>
          <a:noFill/>
        </p:spPr>
        <p:txBody>
          <a:bodyPr wrap="square" lIns="18288" rIns="18288" tIns="0" bIns="0">
            <a:spAutoFit/>
          </a:bodyPr>
          <a:lstStyle/>
          <a:p>
            <a:pPr>
              <a:spcAft>
                <a:spcPts val="900"/>
              </a:spcAft>
              <a:defRPr sz="1600" b="0">
                <a:solidFill>
                  <a:srgbClr val="516774"/>
                </a:solidFill>
                <a:latin typeface="DejaVu Sans"/>
              </a:defRPr>
            </a:pPr>
            <a:r>
              <a:t>The browser page works offline. GPU inference produced the records behind it.</a:t>
            </a:r>
          </a:p>
        </p:txBody>
      </p:sp>
      <p:pic>
        <p:nvPicPr>
          <p:cNvPr id="6" name="Picture 5" descr="replay-screenshot.png">
            <a:hlinkClick r:id="rId4"/>
          </p:cNvPr>
          <p:cNvPicPr>
            <a:picLocks noChangeAspect="1"/>
          </p:cNvPicPr>
          <p:nvPr/>
        </p:nvPicPr>
        <p:blipFill>
          <a:blip r:embed="rId3"/>
          <a:stretch>
            <a:fillRect/>
          </a:stretch>
        </p:blipFill>
        <p:spPr>
          <a:xfrm>
            <a:off x="1851660" y="2212848"/>
            <a:ext cx="4937760" cy="3429000"/>
          </a:xfrm>
          <a:prstGeom prst="rect">
            <a:avLst/>
          </a:prstGeom>
        </p:spPr>
      </p:pic>
      <p:sp>
        <p:nvSpPr>
          <p:cNvPr id="7" name="TextBox 6"/>
          <p:cNvSpPr txBox="1"/>
          <p:nvPr/>
        </p:nvSpPr>
        <p:spPr>
          <a:xfrm>
            <a:off x="8275320" y="2313432"/>
            <a:ext cx="3246120" cy="365760"/>
          </a:xfrm>
          <a:prstGeom prst="rect">
            <a:avLst/>
          </a:prstGeom>
          <a:noFill/>
        </p:spPr>
        <p:txBody>
          <a:bodyPr wrap="square" lIns="18288" rIns="18288" tIns="0" bIns="0">
            <a:spAutoFit/>
          </a:bodyPr>
          <a:lstStyle/>
          <a:p>
            <a:pPr>
              <a:spcAft>
                <a:spcPts val="900"/>
              </a:spcAft>
              <a:defRPr sz="2000" b="1">
                <a:solidFill>
                  <a:srgbClr val="007C78"/>
                </a:solidFill>
                <a:latin typeface="DejaVu Sans"/>
              </a:defRPr>
            </a:pPr>
            <a:r>
              <a:t>Present it</a:t>
            </a:r>
          </a:p>
        </p:txBody>
      </p:sp>
      <p:sp>
        <p:nvSpPr>
          <p:cNvPr id="8" name="TextBox 7"/>
          <p:cNvSpPr txBox="1"/>
          <p:nvPr/>
        </p:nvSpPr>
        <p:spPr>
          <a:xfrm>
            <a:off x="8275320" y="2798064"/>
            <a:ext cx="3246120" cy="1097280"/>
          </a:xfrm>
          <a:prstGeom prst="rect">
            <a:avLst/>
          </a:prstGeom>
          <a:noFill/>
        </p:spPr>
        <p:txBody>
          <a:bodyPr wrap="square" lIns="18288" rIns="18288" tIns="0" bIns="0">
            <a:spAutoFit/>
          </a:bodyPr>
          <a:lstStyle/>
          <a:p>
            <a:pPr>
              <a:spcAft>
                <a:spcPts val="900"/>
              </a:spcAft>
              <a:defRPr sz="1400" b="0">
                <a:solidFill>
                  <a:srgbClr val="132C38"/>
                </a:solidFill>
                <a:latin typeface="DejaVu Sans"/>
              </a:defRPr>
            </a:pPr>
            <a:r>
              <a:t>Play, then Show all.</a:t>
            </a:r>
          </a:p>
          <a:p>
            <a:pPr>
              <a:spcAft>
                <a:spcPts val="900"/>
              </a:spcAft>
              <a:defRPr sz="1400" b="0">
                <a:solidFill>
                  <a:srgbClr val="132C38"/>
                </a:solidFill>
                <a:latin typeface="DejaVu Sans"/>
              </a:defRPr>
            </a:pPr>
            <a:r>
              <a:t>Filter Prediction errors.</a:t>
            </a:r>
          </a:p>
          <a:p>
            <a:pPr>
              <a:spcAft>
                <a:spcPts val="900"/>
              </a:spcAft>
              <a:defRPr sz="1400" b="0">
                <a:solidFill>
                  <a:srgbClr val="132C38"/>
                </a:solidFill>
                <a:latin typeface="DejaVu Sans"/>
              </a:defRPr>
            </a:pPr>
            <a:r>
              <a:t>Explain one mistake and show the checkpoint hash.</a:t>
            </a:r>
          </a:p>
        </p:txBody>
      </p:sp>
      <p:sp>
        <p:nvSpPr>
          <p:cNvPr id="9" name="TextBox 8"/>
          <p:cNvSpPr txBox="1"/>
          <p:nvPr/>
        </p:nvSpPr>
        <p:spPr>
          <a:xfrm>
            <a:off x="8275320" y="3922776"/>
            <a:ext cx="3246120" cy="365760"/>
          </a:xfrm>
          <a:prstGeom prst="rect">
            <a:avLst/>
          </a:prstGeom>
          <a:noFill/>
        </p:spPr>
        <p:txBody>
          <a:bodyPr wrap="square" lIns="18288" rIns="18288" tIns="0" bIns="0">
            <a:spAutoFit/>
          </a:bodyPr>
          <a:lstStyle/>
          <a:p>
            <a:pPr>
              <a:spcAft>
                <a:spcPts val="900"/>
              </a:spcAft>
              <a:defRPr sz="2000" b="1">
                <a:solidFill>
                  <a:srgbClr val="007C78"/>
                </a:solidFill>
                <a:latin typeface="DejaVu Sans"/>
              </a:defRPr>
            </a:pPr>
            <a:r>
              <a:t>State the limit</a:t>
            </a:r>
          </a:p>
        </p:txBody>
      </p:sp>
      <p:sp>
        <p:nvSpPr>
          <p:cNvPr id="10" name="TextBox 9"/>
          <p:cNvSpPr txBox="1"/>
          <p:nvPr/>
        </p:nvSpPr>
        <p:spPr>
          <a:xfrm>
            <a:off x="8275320" y="4407408"/>
            <a:ext cx="3246120" cy="1097280"/>
          </a:xfrm>
          <a:prstGeom prst="rect">
            <a:avLst/>
          </a:prstGeom>
          <a:noFill/>
        </p:spPr>
        <p:txBody>
          <a:bodyPr wrap="square" lIns="18288" rIns="18288" tIns="0" bIns="0">
            <a:spAutoFit/>
          </a:bodyPr>
          <a:lstStyle/>
          <a:p>
            <a:pPr>
              <a:spcAft>
                <a:spcPts val="900"/>
              </a:spcAft>
              <a:defRPr sz="1400" b="0">
                <a:solidFill>
                  <a:srgbClr val="132C38"/>
                </a:solidFill>
                <a:latin typeface="DejaVu Sans"/>
              </a:defRPr>
            </a:pPr>
            <a:r>
              <a:t>Recorded inference only.</a:t>
            </a:r>
          </a:p>
          <a:p>
            <a:pPr>
              <a:spcAft>
                <a:spcPts val="900"/>
              </a:spcAft>
              <a:defRPr sz="1400" b="0">
                <a:solidFill>
                  <a:srgbClr val="132C38"/>
                </a:solidFill>
                <a:latin typeface="DejaVu Sans"/>
              </a:defRPr>
            </a:pPr>
            <a:r>
              <a:t>No capture or blocking.</a:t>
            </a:r>
          </a:p>
          <a:p>
            <a:pPr>
              <a:spcAft>
                <a:spcPts val="900"/>
              </a:spcAft>
              <a:defRPr sz="1400" b="0">
                <a:solidFill>
                  <a:srgbClr val="132C38"/>
                </a:solidFill>
                <a:latin typeface="DejaVu Sans"/>
              </a:defRPr>
            </a:pPr>
            <a:r>
              <a:t>Display pace is adjustable.</a:t>
            </a:r>
          </a:p>
          <a:p>
            <a:pPr>
              <a:spcAft>
                <a:spcPts val="900"/>
              </a:spcAft>
              <a:defRPr sz="1400" b="0">
                <a:solidFill>
                  <a:srgbClr val="132C38"/>
                </a:solidFill>
                <a:latin typeface="DejaVu Sans"/>
              </a:defRPr>
            </a:pPr>
            <a:r>
              <a:t>Scores are uncalibrated.</a:t>
            </a:r>
          </a:p>
        </p:txBody>
      </p:sp>
      <p:sp>
        <p:nvSpPr>
          <p:cNvPr id="11" name="Rectangle 10"/>
          <p:cNvSpPr/>
          <p:nvPr/>
        </p:nvSpPr>
        <p:spPr>
          <a:xfrm>
            <a:off x="594360" y="5806440"/>
            <a:ext cx="11000232" cy="512064"/>
          </a:xfrm>
          <a:prstGeom prst="rect">
            <a:avLst/>
          </a:prstGeom>
          <a:solidFill>
            <a:srgbClr val="E0E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897880"/>
            <a:ext cx="10735056" cy="365760"/>
          </a:xfrm>
          <a:prstGeom prst="rect">
            <a:avLst/>
          </a:prstGeom>
          <a:noFill/>
        </p:spPr>
        <p:txBody>
          <a:bodyPr wrap="square" lIns="18288" rIns="18288" tIns="0" bIns="0">
            <a:spAutoFit/>
          </a:bodyPr>
          <a:lstStyle/>
          <a:p>
            <a:pPr>
              <a:spcAft>
                <a:spcPts val="900"/>
              </a:spcAft>
              <a:defRPr sz="1250" b="0">
                <a:solidFill>
                  <a:srgbClr val="132C38"/>
                </a:solidFill>
                <a:latin typeface="DejaVu Sans"/>
              </a:defRPr>
            </a:pPr>
            <a:r>
              <a:t>A recorded walkthrough and PDF are included as meeting backups.</a:t>
            </a:r>
          </a:p>
        </p:txBody>
      </p:sp>
      <p:sp>
        <p:nvSpPr>
          <p:cNvPr id="13" name="TextBox 12"/>
          <p:cNvSpPr txBox="1"/>
          <p:nvPr/>
        </p:nvSpPr>
        <p:spPr>
          <a:xfrm>
            <a:off x="594360" y="6519672"/>
            <a:ext cx="10424160" cy="182880"/>
          </a:xfrm>
          <a:prstGeom prst="rect">
            <a:avLst/>
          </a:prstGeom>
          <a:noFill/>
        </p:spPr>
        <p:txBody>
          <a:bodyPr wrap="square" lIns="18288" rIns="18288" tIns="0" bIns="0">
            <a:spAutoFit/>
          </a:bodyPr>
          <a:lstStyle/>
          <a:p>
            <a:pPr>
              <a:spcAft>
                <a:spcPts val="900"/>
              </a:spcAft>
              <a:defRPr sz="900" b="0">
                <a:solidFill>
                  <a:srgbClr val="516774"/>
                </a:solidFill>
                <a:latin typeface="DejaVu Sans"/>
              </a:defRPr>
            </a:pPr>
            <a:r>
              <a:rPr>
                <a:hlinkClick r:id="rId5"/>
              </a:rPr>
              <a:t>NETMAMBA+  /  MEASURED RESEARCH  /  15 September 2026</a:t>
            </a:r>
          </a:p>
        </p:txBody>
      </p:sp>
      <p:sp>
        <p:nvSpPr>
          <p:cNvPr id="14" name="TextBox 13"/>
          <p:cNvSpPr txBox="1"/>
          <p:nvPr/>
        </p:nvSpPr>
        <p:spPr>
          <a:xfrm>
            <a:off x="11155680" y="6473952"/>
            <a:ext cx="457200" cy="228600"/>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38328"/>
            <a:ext cx="10789920" cy="274320"/>
          </a:xfrm>
          <a:prstGeom prst="rect">
            <a:avLst/>
          </a:prstGeom>
          <a:noFill/>
        </p:spPr>
        <p:txBody>
          <a:bodyPr wrap="square" lIns="18288" rIns="18288" tIns="0" bIns="0">
            <a:spAutoFit/>
          </a:bodyPr>
          <a:lstStyle/>
          <a:p>
            <a:pPr>
              <a:spcAft>
                <a:spcPts val="900"/>
              </a:spcAft>
              <a:defRPr sz="1100" b="1">
                <a:solidFill>
                  <a:srgbClr val="007C78"/>
                </a:solidFill>
                <a:latin typeface="DejaVu Sans"/>
              </a:defRPr>
            </a:pPr>
            <a:r>
              <a:t>08 / MEASURED INFERENCE COST</a:t>
            </a:r>
          </a:p>
        </p:txBody>
      </p:sp>
      <p:sp>
        <p:nvSpPr>
          <p:cNvPr id="4" name="TextBox 3"/>
          <p:cNvSpPr txBox="1"/>
          <p:nvPr/>
        </p:nvSpPr>
        <p:spPr>
          <a:xfrm>
            <a:off x="594360" y="841248"/>
            <a:ext cx="10972800" cy="621792"/>
          </a:xfrm>
          <a:prstGeom prst="rect">
            <a:avLst/>
          </a:prstGeom>
          <a:noFill/>
        </p:spPr>
        <p:txBody>
          <a:bodyPr wrap="square" lIns="18288" rIns="18288" tIns="0" bIns="0">
            <a:spAutoFit/>
          </a:bodyPr>
          <a:lstStyle/>
          <a:p>
            <a:pPr>
              <a:spcAft>
                <a:spcPts val="900"/>
              </a:spcAft>
              <a:defRPr sz="3400" b="0">
                <a:solidFill>
                  <a:srgbClr val="132C38"/>
                </a:solidFill>
                <a:latin typeface="Liberation Serif"/>
              </a:defRPr>
            </a:pPr>
            <a:r>
              <a:t>Time the model and state what is excluded</a:t>
            </a:r>
          </a:p>
        </p:txBody>
      </p:sp>
      <p:sp>
        <p:nvSpPr>
          <p:cNvPr id="5" name="TextBox 4"/>
          <p:cNvSpPr txBox="1"/>
          <p:nvPr/>
        </p:nvSpPr>
        <p:spPr>
          <a:xfrm>
            <a:off x="594360" y="1600200"/>
            <a:ext cx="10881360" cy="548640"/>
          </a:xfrm>
          <a:prstGeom prst="rect">
            <a:avLst/>
          </a:prstGeom>
          <a:noFill/>
        </p:spPr>
        <p:txBody>
          <a:bodyPr wrap="square" lIns="18288" rIns="18288" tIns="0" bIns="0">
            <a:spAutoFit/>
          </a:bodyPr>
          <a:lstStyle/>
          <a:p>
            <a:pPr>
              <a:spcAft>
                <a:spcPts val="900"/>
              </a:spcAft>
              <a:defRPr sz="1600" b="0">
                <a:solidFill>
                  <a:srgbClr val="516774"/>
                </a:solidFill>
                <a:latin typeface="DejaVu Sans"/>
              </a:defRPr>
            </a:pPr>
            <a:r>
              <a:t>GB10 · float16 autocast · 20 warmups + 100 synchronized measurements per batch size</a:t>
            </a:r>
          </a:p>
        </p:txBody>
      </p:sp>
      <p:sp>
        <p:nvSpPr>
          <p:cNvPr id="6" name="Rectangle 5"/>
          <p:cNvSpPr/>
          <p:nvPr/>
        </p:nvSpPr>
        <p:spPr>
          <a:xfrm>
            <a:off x="594360" y="2331720"/>
            <a:ext cx="1463040" cy="484632"/>
          </a:xfrm>
          <a:prstGeom prst="rect">
            <a:avLst/>
          </a:prstGeom>
          <a:solidFill>
            <a:srgbClr val="13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441448"/>
            <a:ext cx="1243584" cy="338328"/>
          </a:xfrm>
          <a:prstGeom prst="rect">
            <a:avLst/>
          </a:prstGeom>
          <a:noFill/>
        </p:spPr>
        <p:txBody>
          <a:bodyPr wrap="square" lIns="18288" rIns="18288" tIns="0" bIns="0">
            <a:spAutoFit/>
          </a:bodyPr>
          <a:lstStyle/>
          <a:p>
            <a:pPr>
              <a:spcAft>
                <a:spcPts val="900"/>
              </a:spcAft>
              <a:defRPr sz="1400" b="1">
                <a:solidFill>
                  <a:srgbClr val="FFFFFF"/>
                </a:solidFill>
                <a:latin typeface="DejaVu Sans"/>
              </a:defRPr>
            </a:pPr>
            <a:r>
              <a:t>Batch</a:t>
            </a:r>
          </a:p>
        </p:txBody>
      </p:sp>
      <p:sp>
        <p:nvSpPr>
          <p:cNvPr id="8" name="Rectangle 7"/>
          <p:cNvSpPr/>
          <p:nvPr/>
        </p:nvSpPr>
        <p:spPr>
          <a:xfrm>
            <a:off x="2057400" y="2331720"/>
            <a:ext cx="3474720" cy="484632"/>
          </a:xfrm>
          <a:prstGeom prst="rect">
            <a:avLst/>
          </a:prstGeom>
          <a:solidFill>
            <a:srgbClr val="13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85416" y="2441448"/>
            <a:ext cx="3255263" cy="338328"/>
          </a:xfrm>
          <a:prstGeom prst="rect">
            <a:avLst/>
          </a:prstGeom>
          <a:noFill/>
        </p:spPr>
        <p:txBody>
          <a:bodyPr wrap="square" lIns="18288" rIns="18288" tIns="0" bIns="0">
            <a:spAutoFit/>
          </a:bodyPr>
          <a:lstStyle/>
          <a:p>
            <a:pPr>
              <a:spcAft>
                <a:spcPts val="900"/>
              </a:spcAft>
              <a:defRPr sz="1400" b="1">
                <a:solidFill>
                  <a:srgbClr val="FFFFFF"/>
                </a:solidFill>
                <a:latin typeface="DejaVu Sans"/>
              </a:defRPr>
            </a:pPr>
            <a:r>
              <a:t>Median batch latency</a:t>
            </a:r>
          </a:p>
        </p:txBody>
      </p:sp>
      <p:sp>
        <p:nvSpPr>
          <p:cNvPr id="10" name="Rectangle 9"/>
          <p:cNvSpPr/>
          <p:nvPr/>
        </p:nvSpPr>
        <p:spPr>
          <a:xfrm>
            <a:off x="5532120" y="2331720"/>
            <a:ext cx="2926080" cy="484632"/>
          </a:xfrm>
          <a:prstGeom prst="rect">
            <a:avLst/>
          </a:prstGeom>
          <a:solidFill>
            <a:srgbClr val="13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0136" y="2441448"/>
            <a:ext cx="2706624" cy="338328"/>
          </a:xfrm>
          <a:prstGeom prst="rect">
            <a:avLst/>
          </a:prstGeom>
          <a:noFill/>
        </p:spPr>
        <p:txBody>
          <a:bodyPr wrap="square" lIns="18288" rIns="18288" tIns="0" bIns="0">
            <a:spAutoFit/>
          </a:bodyPr>
          <a:lstStyle/>
          <a:p>
            <a:pPr>
              <a:spcAft>
                <a:spcPts val="900"/>
              </a:spcAft>
              <a:defRPr sz="1400" b="1">
                <a:solidFill>
                  <a:srgbClr val="FFFFFF"/>
                </a:solidFill>
                <a:latin typeface="DejaVu Sans"/>
              </a:defRPr>
            </a:pPr>
            <a:r>
              <a:t>95th percentile</a:t>
            </a:r>
          </a:p>
        </p:txBody>
      </p:sp>
      <p:sp>
        <p:nvSpPr>
          <p:cNvPr id="12" name="Rectangle 11"/>
          <p:cNvSpPr/>
          <p:nvPr/>
        </p:nvSpPr>
        <p:spPr>
          <a:xfrm>
            <a:off x="8458200" y="2331720"/>
            <a:ext cx="3108960" cy="484632"/>
          </a:xfrm>
          <a:prstGeom prst="rect">
            <a:avLst/>
          </a:prstGeom>
          <a:solidFill>
            <a:srgbClr val="13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86216" y="2441448"/>
            <a:ext cx="2889504" cy="338328"/>
          </a:xfrm>
          <a:prstGeom prst="rect">
            <a:avLst/>
          </a:prstGeom>
          <a:noFill/>
        </p:spPr>
        <p:txBody>
          <a:bodyPr wrap="square" lIns="18288" rIns="18288" tIns="0" bIns="0">
            <a:spAutoFit/>
          </a:bodyPr>
          <a:lstStyle/>
          <a:p>
            <a:pPr>
              <a:spcAft>
                <a:spcPts val="900"/>
              </a:spcAft>
              <a:defRPr sz="1400" b="1">
                <a:solidFill>
                  <a:srgbClr val="FFFFFF"/>
                </a:solidFill>
                <a:latin typeface="DejaVu Sans"/>
              </a:defRPr>
            </a:pPr>
            <a:r>
              <a:t>Flows/s from mean</a:t>
            </a:r>
          </a:p>
        </p:txBody>
      </p:sp>
      <p:sp>
        <p:nvSpPr>
          <p:cNvPr id="14" name="Rectangle 13"/>
          <p:cNvSpPr/>
          <p:nvPr/>
        </p:nvSpPr>
        <p:spPr>
          <a:xfrm>
            <a:off x="594360" y="2816352"/>
            <a:ext cx="146304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2926080"/>
            <a:ext cx="124358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1</a:t>
            </a:r>
          </a:p>
        </p:txBody>
      </p:sp>
      <p:sp>
        <p:nvSpPr>
          <p:cNvPr id="16" name="Rectangle 15"/>
          <p:cNvSpPr/>
          <p:nvPr/>
        </p:nvSpPr>
        <p:spPr>
          <a:xfrm>
            <a:off x="2057400" y="2816352"/>
            <a:ext cx="347472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85416" y="2926080"/>
            <a:ext cx="3255263"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0.88 ms</a:t>
            </a:r>
          </a:p>
        </p:txBody>
      </p:sp>
      <p:sp>
        <p:nvSpPr>
          <p:cNvPr id="18" name="Rectangle 17"/>
          <p:cNvSpPr/>
          <p:nvPr/>
        </p:nvSpPr>
        <p:spPr>
          <a:xfrm>
            <a:off x="5532120" y="2816352"/>
            <a:ext cx="292608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0136" y="2926080"/>
            <a:ext cx="270662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0.93 ms</a:t>
            </a:r>
          </a:p>
        </p:txBody>
      </p:sp>
      <p:sp>
        <p:nvSpPr>
          <p:cNvPr id="20" name="Rectangle 19"/>
          <p:cNvSpPr/>
          <p:nvPr/>
        </p:nvSpPr>
        <p:spPr>
          <a:xfrm>
            <a:off x="8458200" y="2816352"/>
            <a:ext cx="310896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86216" y="2926080"/>
            <a:ext cx="288950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1,120.0</a:t>
            </a:r>
          </a:p>
        </p:txBody>
      </p:sp>
      <p:sp>
        <p:nvSpPr>
          <p:cNvPr id="22" name="Rectangle 21"/>
          <p:cNvSpPr/>
          <p:nvPr/>
        </p:nvSpPr>
        <p:spPr>
          <a:xfrm>
            <a:off x="594360" y="3300984"/>
            <a:ext cx="146304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 y="3410712"/>
            <a:ext cx="124358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16</a:t>
            </a:r>
          </a:p>
        </p:txBody>
      </p:sp>
      <p:sp>
        <p:nvSpPr>
          <p:cNvPr id="24" name="Rectangle 23"/>
          <p:cNvSpPr/>
          <p:nvPr/>
        </p:nvSpPr>
        <p:spPr>
          <a:xfrm>
            <a:off x="2057400" y="3300984"/>
            <a:ext cx="347472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85416" y="3410712"/>
            <a:ext cx="3255263"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4.32 ms</a:t>
            </a:r>
          </a:p>
        </p:txBody>
      </p:sp>
      <p:sp>
        <p:nvSpPr>
          <p:cNvPr id="26" name="Rectangle 25"/>
          <p:cNvSpPr/>
          <p:nvPr/>
        </p:nvSpPr>
        <p:spPr>
          <a:xfrm>
            <a:off x="5532120" y="3300984"/>
            <a:ext cx="292608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0136" y="3410712"/>
            <a:ext cx="270662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4.64 ms</a:t>
            </a:r>
          </a:p>
        </p:txBody>
      </p:sp>
      <p:sp>
        <p:nvSpPr>
          <p:cNvPr id="28" name="Rectangle 27"/>
          <p:cNvSpPr/>
          <p:nvPr/>
        </p:nvSpPr>
        <p:spPr>
          <a:xfrm>
            <a:off x="8458200" y="3300984"/>
            <a:ext cx="3108960" cy="484632"/>
          </a:xfrm>
          <a:prstGeom prst="rect">
            <a:avLst/>
          </a:prstGeom>
          <a:solidFill>
            <a:srgbClr val="E5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86216" y="3410712"/>
            <a:ext cx="288950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3,679.1</a:t>
            </a:r>
          </a:p>
        </p:txBody>
      </p:sp>
      <p:sp>
        <p:nvSpPr>
          <p:cNvPr id="30" name="Rectangle 29"/>
          <p:cNvSpPr/>
          <p:nvPr/>
        </p:nvSpPr>
        <p:spPr>
          <a:xfrm>
            <a:off x="594360" y="3785615"/>
            <a:ext cx="146304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 y="3895344"/>
            <a:ext cx="124358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128</a:t>
            </a:r>
          </a:p>
        </p:txBody>
      </p:sp>
      <p:sp>
        <p:nvSpPr>
          <p:cNvPr id="32" name="Rectangle 31"/>
          <p:cNvSpPr/>
          <p:nvPr/>
        </p:nvSpPr>
        <p:spPr>
          <a:xfrm>
            <a:off x="2057400" y="3785615"/>
            <a:ext cx="347472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85416" y="3895344"/>
            <a:ext cx="3255263"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36.55 ms</a:t>
            </a:r>
          </a:p>
        </p:txBody>
      </p:sp>
      <p:sp>
        <p:nvSpPr>
          <p:cNvPr id="34" name="Rectangle 33"/>
          <p:cNvSpPr/>
          <p:nvPr/>
        </p:nvSpPr>
        <p:spPr>
          <a:xfrm>
            <a:off x="5532120" y="3785615"/>
            <a:ext cx="292608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0136" y="3895344"/>
            <a:ext cx="270662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37.38 ms</a:t>
            </a:r>
          </a:p>
        </p:txBody>
      </p:sp>
      <p:sp>
        <p:nvSpPr>
          <p:cNvPr id="36" name="Rectangle 35"/>
          <p:cNvSpPr/>
          <p:nvPr/>
        </p:nvSpPr>
        <p:spPr>
          <a:xfrm>
            <a:off x="8458200" y="3785615"/>
            <a:ext cx="310896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86216" y="3895344"/>
            <a:ext cx="2889504" cy="338328"/>
          </a:xfrm>
          <a:prstGeom prst="rect">
            <a:avLst/>
          </a:prstGeom>
          <a:noFill/>
        </p:spPr>
        <p:txBody>
          <a:bodyPr wrap="square" lIns="18288" rIns="18288" tIns="0" bIns="0">
            <a:spAutoFit/>
          </a:bodyPr>
          <a:lstStyle/>
          <a:p>
            <a:pPr>
              <a:spcAft>
                <a:spcPts val="900"/>
              </a:spcAft>
              <a:defRPr sz="1800" b="0">
                <a:solidFill>
                  <a:srgbClr val="132C38"/>
                </a:solidFill>
                <a:latin typeface="DejaVu Sans"/>
              </a:defRPr>
            </a:pPr>
            <a:r>
              <a:t>3,502.3</a:t>
            </a:r>
          </a:p>
        </p:txBody>
      </p:sp>
      <p:sp>
        <p:nvSpPr>
          <p:cNvPr id="38" name="TextBox 37"/>
          <p:cNvSpPr txBox="1"/>
          <p:nvPr/>
        </p:nvSpPr>
        <p:spPr>
          <a:xfrm>
            <a:off x="731520" y="4709160"/>
            <a:ext cx="10698480" cy="594360"/>
          </a:xfrm>
          <a:prstGeom prst="rect">
            <a:avLst/>
          </a:prstGeom>
          <a:noFill/>
        </p:spPr>
        <p:txBody>
          <a:bodyPr wrap="square" lIns="18288" rIns="18288" tIns="0" bIns="0">
            <a:spAutoFit/>
          </a:bodyPr>
          <a:lstStyle/>
          <a:p>
            <a:pPr>
              <a:spcAft>
                <a:spcPts val="900"/>
              </a:spcAft>
              <a:defRPr sz="1800" b="0">
                <a:solidFill>
                  <a:srgbClr val="007C78"/>
                </a:solidFill>
                <a:latin typeface="DejaVu Sans"/>
              </a:defRPr>
            </a:pPr>
            <a:r>
              <a:t>First 128 flows: 100.00% prediction agreement between single-flow and batched execution.</a:t>
            </a:r>
          </a:p>
        </p:txBody>
      </p:sp>
      <p:sp>
        <p:nvSpPr>
          <p:cNvPr id="39" name="Rectangle 38"/>
          <p:cNvSpPr/>
          <p:nvPr/>
        </p:nvSpPr>
        <p:spPr>
          <a:xfrm>
            <a:off x="594360" y="5806440"/>
            <a:ext cx="11000232" cy="512064"/>
          </a:xfrm>
          <a:prstGeom prst="rect">
            <a:avLst/>
          </a:prstGeom>
          <a:solidFill>
            <a:srgbClr val="E0E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897880"/>
            <a:ext cx="10735056" cy="365760"/>
          </a:xfrm>
          <a:prstGeom prst="rect">
            <a:avLst/>
          </a:prstGeom>
          <a:noFill/>
        </p:spPr>
        <p:txBody>
          <a:bodyPr wrap="square" lIns="18288" rIns="18288" tIns="0" bIns="0">
            <a:spAutoFit/>
          </a:bodyPr>
          <a:lstStyle/>
          <a:p>
            <a:pPr>
              <a:spcAft>
                <a:spcPts val="900"/>
              </a:spcAft>
              <a:defRPr sz="1250" b="0">
                <a:solidFill>
                  <a:srgbClr val="132C38"/>
                </a:solidFill>
                <a:latin typeface="DejaVu Sans"/>
              </a:defRPr>
            </a:pPr>
            <a:r>
              <a:t>These are model-only flows/second. Capture, flow waiting, preprocessing, transfers and alert handling are excluded.</a:t>
            </a:r>
          </a:p>
        </p:txBody>
      </p:sp>
      <p:sp>
        <p:nvSpPr>
          <p:cNvPr id="41" name="TextBox 40"/>
          <p:cNvSpPr txBox="1"/>
          <p:nvPr/>
        </p:nvSpPr>
        <p:spPr>
          <a:xfrm>
            <a:off x="594360" y="6519672"/>
            <a:ext cx="10424160" cy="182880"/>
          </a:xfrm>
          <a:prstGeom prst="rect">
            <a:avLst/>
          </a:prstGeom>
          <a:noFill/>
        </p:spPr>
        <p:txBody>
          <a:bodyPr wrap="square" lIns="18288" rIns="18288" tIns="0" bIns="0">
            <a:spAutoFit/>
          </a:bodyPr>
          <a:lstStyle/>
          <a:p>
            <a:pPr>
              <a:spcAft>
                <a:spcPts val="900"/>
              </a:spcAft>
              <a:defRPr sz="900" b="0">
                <a:solidFill>
                  <a:srgbClr val="516774"/>
                </a:solidFill>
                <a:latin typeface="DejaVu Sans"/>
              </a:defRPr>
            </a:pPr>
            <a:r>
              <a:rPr>
                <a:hlinkClick r:id="rId3"/>
              </a:rPr>
              <a:t>NETMAMBA+  /  MEASURED RESEARCH  /  15 September 2026</a:t>
            </a:r>
          </a:p>
        </p:txBody>
      </p:sp>
      <p:sp>
        <p:nvSpPr>
          <p:cNvPr id="42" name="TextBox 41"/>
          <p:cNvSpPr txBox="1"/>
          <p:nvPr/>
        </p:nvSpPr>
        <p:spPr>
          <a:xfrm>
            <a:off x="11155680" y="6473952"/>
            <a:ext cx="457200" cy="228600"/>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38328"/>
            <a:ext cx="10789920" cy="274320"/>
          </a:xfrm>
          <a:prstGeom prst="rect">
            <a:avLst/>
          </a:prstGeom>
          <a:noFill/>
        </p:spPr>
        <p:txBody>
          <a:bodyPr wrap="square" lIns="18288" rIns="18288" tIns="0" bIns="0">
            <a:spAutoFit/>
          </a:bodyPr>
          <a:lstStyle/>
          <a:p>
            <a:pPr>
              <a:spcAft>
                <a:spcPts val="900"/>
              </a:spcAft>
              <a:defRPr sz="1100" b="1">
                <a:solidFill>
                  <a:srgbClr val="007C78"/>
                </a:solidFill>
                <a:latin typeface="DejaVu Sans"/>
              </a:defRPr>
            </a:pPr>
            <a:r>
              <a:t>09 / FROM DEMO TO A SIMPLE IDS</a:t>
            </a:r>
          </a:p>
        </p:txBody>
      </p:sp>
      <p:sp>
        <p:nvSpPr>
          <p:cNvPr id="4" name="TextBox 3"/>
          <p:cNvSpPr txBox="1"/>
          <p:nvPr/>
        </p:nvSpPr>
        <p:spPr>
          <a:xfrm>
            <a:off x="594360" y="841248"/>
            <a:ext cx="10972800" cy="621792"/>
          </a:xfrm>
          <a:prstGeom prst="rect">
            <a:avLst/>
          </a:prstGeom>
          <a:noFill/>
        </p:spPr>
        <p:txBody>
          <a:bodyPr wrap="square" lIns="18288" rIns="18288" tIns="0" bIns="0">
            <a:spAutoFit/>
          </a:bodyPr>
          <a:lstStyle/>
          <a:p>
            <a:pPr>
              <a:spcAft>
                <a:spcPts val="900"/>
              </a:spcAft>
              <a:defRPr sz="3400" b="0">
                <a:solidFill>
                  <a:srgbClr val="132C38"/>
                </a:solidFill>
                <a:latin typeface="Liberation Serif"/>
              </a:defRPr>
            </a:pPr>
            <a:r>
              <a:t>The next build is a capture-to-alert system</a:t>
            </a:r>
          </a:p>
        </p:txBody>
      </p:sp>
      <p:sp>
        <p:nvSpPr>
          <p:cNvPr id="5" name="TextBox 4"/>
          <p:cNvSpPr txBox="1"/>
          <p:nvPr/>
        </p:nvSpPr>
        <p:spPr>
          <a:xfrm>
            <a:off x="594360" y="1600200"/>
            <a:ext cx="10881360" cy="548640"/>
          </a:xfrm>
          <a:prstGeom prst="rect">
            <a:avLst/>
          </a:prstGeom>
          <a:noFill/>
        </p:spPr>
        <p:txBody>
          <a:bodyPr wrap="square" lIns="18288" rIns="18288" tIns="0" bIns="0">
            <a:spAutoFit/>
          </a:bodyPr>
          <a:lstStyle/>
          <a:p>
            <a:pPr>
              <a:spcAft>
                <a:spcPts val="900"/>
              </a:spcAft>
              <a:defRPr sz="1600" b="0">
                <a:solidFill>
                  <a:srgbClr val="516774"/>
                </a:solidFill>
                <a:latin typeface="DejaVu Sans"/>
              </a:defRPr>
            </a:pPr>
            <a:r>
              <a:t>The classifier is measured. The online integration still needs its own implementation and tests.</a:t>
            </a:r>
          </a:p>
        </p:txBody>
      </p:sp>
      <p:sp>
        <p:nvSpPr>
          <p:cNvPr id="6" name="Rectangle 5"/>
          <p:cNvSpPr/>
          <p:nvPr/>
        </p:nvSpPr>
        <p:spPr>
          <a:xfrm>
            <a:off x="594360" y="2788920"/>
            <a:ext cx="1645920" cy="1371600"/>
          </a:xfrm>
          <a:prstGeom prst="rect">
            <a:avLst/>
          </a:prstGeom>
          <a:solidFill>
            <a:srgbClr val="FFFFFF"/>
          </a:solidFill>
          <a:ln w="12700">
            <a:solidFill>
              <a:srgbClr val="5167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3017520"/>
            <a:ext cx="1426464" cy="621792"/>
          </a:xfrm>
          <a:prstGeom prst="rect">
            <a:avLst/>
          </a:prstGeom>
          <a:noFill/>
        </p:spPr>
        <p:txBody>
          <a:bodyPr wrap="square" lIns="18288" rIns="18288" tIns="0" bIns="0">
            <a:spAutoFit/>
          </a:bodyPr>
          <a:lstStyle/>
          <a:p>
            <a:pPr>
              <a:spcAft>
                <a:spcPts val="900"/>
              </a:spcAft>
              <a:defRPr sz="1700" b="1">
                <a:solidFill>
                  <a:srgbClr val="132C38"/>
                </a:solidFill>
                <a:latin typeface="DejaVu Sans"/>
              </a:defRPr>
            </a:pPr>
            <a:r>
              <a:t>Capture</a:t>
            </a:r>
          </a:p>
        </p:txBody>
      </p:sp>
      <p:sp>
        <p:nvSpPr>
          <p:cNvPr id="8" name="TextBox 7"/>
          <p:cNvSpPr txBox="1"/>
          <p:nvPr/>
        </p:nvSpPr>
        <p:spPr>
          <a:xfrm>
            <a:off x="704088" y="3685032"/>
            <a:ext cx="1426464" cy="347472"/>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Future</a:t>
            </a:r>
          </a:p>
        </p:txBody>
      </p:sp>
      <p:sp>
        <p:nvSpPr>
          <p:cNvPr id="9" name="TextBox 8"/>
          <p:cNvSpPr txBox="1"/>
          <p:nvPr/>
        </p:nvSpPr>
        <p:spPr>
          <a:xfrm>
            <a:off x="2249424" y="3246120"/>
            <a:ext cx="228600" cy="365760"/>
          </a:xfrm>
          <a:prstGeom prst="rect">
            <a:avLst/>
          </a:prstGeom>
          <a:noFill/>
        </p:spPr>
        <p:txBody>
          <a:bodyPr wrap="square" lIns="18288" rIns="18288" tIns="0" bIns="0">
            <a:spAutoFit/>
          </a:bodyPr>
          <a:lstStyle/>
          <a:p>
            <a:pPr>
              <a:spcAft>
                <a:spcPts val="900"/>
              </a:spcAft>
              <a:defRPr sz="1800" b="0">
                <a:solidFill>
                  <a:srgbClr val="007C78"/>
                </a:solidFill>
                <a:latin typeface="DejaVu Sans"/>
              </a:defRPr>
            </a:pPr>
            <a:r>
              <a:t>→</a:t>
            </a:r>
          </a:p>
        </p:txBody>
      </p:sp>
      <p:sp>
        <p:nvSpPr>
          <p:cNvPr id="10" name="Rectangle 9"/>
          <p:cNvSpPr/>
          <p:nvPr/>
        </p:nvSpPr>
        <p:spPr>
          <a:xfrm>
            <a:off x="2459736" y="2788920"/>
            <a:ext cx="1645920" cy="1371600"/>
          </a:xfrm>
          <a:prstGeom prst="rect">
            <a:avLst/>
          </a:prstGeom>
          <a:solidFill>
            <a:srgbClr val="FFFFFF"/>
          </a:solidFill>
          <a:ln w="12700">
            <a:solidFill>
              <a:srgbClr val="5167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69464" y="3017520"/>
            <a:ext cx="1426464" cy="621792"/>
          </a:xfrm>
          <a:prstGeom prst="rect">
            <a:avLst/>
          </a:prstGeom>
          <a:noFill/>
        </p:spPr>
        <p:txBody>
          <a:bodyPr wrap="square" lIns="18288" rIns="18288" tIns="0" bIns="0">
            <a:spAutoFit/>
          </a:bodyPr>
          <a:lstStyle/>
          <a:p>
            <a:pPr>
              <a:spcAft>
                <a:spcPts val="900"/>
              </a:spcAft>
              <a:defRPr sz="1700" b="1">
                <a:solidFill>
                  <a:srgbClr val="132C38"/>
                </a:solidFill>
                <a:latin typeface="DejaVu Sans"/>
              </a:defRPr>
            </a:pPr>
            <a:r>
              <a:t>Flow cache</a:t>
            </a:r>
          </a:p>
        </p:txBody>
      </p:sp>
      <p:sp>
        <p:nvSpPr>
          <p:cNvPr id="12" name="TextBox 11"/>
          <p:cNvSpPr txBox="1"/>
          <p:nvPr/>
        </p:nvSpPr>
        <p:spPr>
          <a:xfrm>
            <a:off x="2569464" y="3685032"/>
            <a:ext cx="1426464" cy="347472"/>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Future</a:t>
            </a:r>
          </a:p>
        </p:txBody>
      </p:sp>
      <p:sp>
        <p:nvSpPr>
          <p:cNvPr id="13" name="TextBox 12"/>
          <p:cNvSpPr txBox="1"/>
          <p:nvPr/>
        </p:nvSpPr>
        <p:spPr>
          <a:xfrm>
            <a:off x="4114800" y="3246120"/>
            <a:ext cx="228600" cy="365760"/>
          </a:xfrm>
          <a:prstGeom prst="rect">
            <a:avLst/>
          </a:prstGeom>
          <a:noFill/>
        </p:spPr>
        <p:txBody>
          <a:bodyPr wrap="square" lIns="18288" rIns="18288" tIns="0" bIns="0">
            <a:spAutoFit/>
          </a:bodyPr>
          <a:lstStyle/>
          <a:p>
            <a:pPr>
              <a:spcAft>
                <a:spcPts val="900"/>
              </a:spcAft>
              <a:defRPr sz="1800" b="0">
                <a:solidFill>
                  <a:srgbClr val="007C78"/>
                </a:solidFill>
                <a:latin typeface="DejaVu Sans"/>
              </a:defRPr>
            </a:pPr>
            <a:r>
              <a:t>→</a:t>
            </a:r>
          </a:p>
        </p:txBody>
      </p:sp>
      <p:sp>
        <p:nvSpPr>
          <p:cNvPr id="14" name="Rectangle 13"/>
          <p:cNvSpPr/>
          <p:nvPr/>
        </p:nvSpPr>
        <p:spPr>
          <a:xfrm>
            <a:off x="4325112" y="2788920"/>
            <a:ext cx="1645920" cy="1371600"/>
          </a:xfrm>
          <a:prstGeom prst="rect">
            <a:avLst/>
          </a:prstGeom>
          <a:solidFill>
            <a:srgbClr val="FFFFFF"/>
          </a:solidFill>
          <a:ln w="12700">
            <a:solidFill>
              <a:srgbClr val="5167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3017520"/>
            <a:ext cx="1426464" cy="621792"/>
          </a:xfrm>
          <a:prstGeom prst="rect">
            <a:avLst/>
          </a:prstGeom>
          <a:noFill/>
        </p:spPr>
        <p:txBody>
          <a:bodyPr wrap="square" lIns="18288" rIns="18288" tIns="0" bIns="0">
            <a:spAutoFit/>
          </a:bodyPr>
          <a:lstStyle/>
          <a:p>
            <a:pPr>
              <a:spcAft>
                <a:spcPts val="900"/>
              </a:spcAft>
              <a:defRPr sz="1700" b="1">
                <a:solidFill>
                  <a:srgbClr val="132C38"/>
                </a:solidFill>
                <a:latin typeface="DejaVu Sans"/>
              </a:defRPr>
            </a:pPr>
            <a:r>
              <a:t>Extractor</a:t>
            </a:r>
          </a:p>
        </p:txBody>
      </p:sp>
      <p:sp>
        <p:nvSpPr>
          <p:cNvPr id="16" name="TextBox 15"/>
          <p:cNvSpPr txBox="1"/>
          <p:nvPr/>
        </p:nvSpPr>
        <p:spPr>
          <a:xfrm>
            <a:off x="4434840" y="3685032"/>
            <a:ext cx="1426464" cy="347472"/>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Future</a:t>
            </a:r>
          </a:p>
        </p:txBody>
      </p:sp>
      <p:sp>
        <p:nvSpPr>
          <p:cNvPr id="17" name="TextBox 16"/>
          <p:cNvSpPr txBox="1"/>
          <p:nvPr/>
        </p:nvSpPr>
        <p:spPr>
          <a:xfrm>
            <a:off x="5980176" y="3246120"/>
            <a:ext cx="228600" cy="365760"/>
          </a:xfrm>
          <a:prstGeom prst="rect">
            <a:avLst/>
          </a:prstGeom>
          <a:noFill/>
        </p:spPr>
        <p:txBody>
          <a:bodyPr wrap="square" lIns="18288" rIns="18288" tIns="0" bIns="0">
            <a:spAutoFit/>
          </a:bodyPr>
          <a:lstStyle/>
          <a:p>
            <a:pPr>
              <a:spcAft>
                <a:spcPts val="900"/>
              </a:spcAft>
              <a:defRPr sz="1800" b="0">
                <a:solidFill>
                  <a:srgbClr val="007C78"/>
                </a:solidFill>
                <a:latin typeface="DejaVu Sans"/>
              </a:defRPr>
            </a:pPr>
            <a:r>
              <a:t>→</a:t>
            </a:r>
          </a:p>
        </p:txBody>
      </p:sp>
      <p:sp>
        <p:nvSpPr>
          <p:cNvPr id="18" name="Rectangle 17"/>
          <p:cNvSpPr/>
          <p:nvPr/>
        </p:nvSpPr>
        <p:spPr>
          <a:xfrm>
            <a:off x="6190488" y="2788920"/>
            <a:ext cx="1645920" cy="1371600"/>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0216" y="3017520"/>
            <a:ext cx="1426464" cy="621792"/>
          </a:xfrm>
          <a:prstGeom prst="rect">
            <a:avLst/>
          </a:prstGeom>
          <a:noFill/>
        </p:spPr>
        <p:txBody>
          <a:bodyPr wrap="square" lIns="18288" rIns="18288" tIns="0" bIns="0">
            <a:spAutoFit/>
          </a:bodyPr>
          <a:lstStyle/>
          <a:p>
            <a:pPr>
              <a:spcAft>
                <a:spcPts val="900"/>
              </a:spcAft>
              <a:defRPr sz="1700" b="1">
                <a:solidFill>
                  <a:srgbClr val="FFFFFF"/>
                </a:solidFill>
                <a:latin typeface="DejaVu Sans"/>
              </a:defRPr>
            </a:pPr>
            <a:r>
              <a:t>Native tensors</a:t>
            </a:r>
          </a:p>
        </p:txBody>
      </p:sp>
      <p:sp>
        <p:nvSpPr>
          <p:cNvPr id="20" name="TextBox 19"/>
          <p:cNvSpPr txBox="1"/>
          <p:nvPr/>
        </p:nvSpPr>
        <p:spPr>
          <a:xfrm>
            <a:off x="6300216" y="3685032"/>
            <a:ext cx="1426464" cy="347472"/>
          </a:xfrm>
          <a:prstGeom prst="rect">
            <a:avLst/>
          </a:prstGeom>
          <a:noFill/>
        </p:spPr>
        <p:txBody>
          <a:bodyPr wrap="square" lIns="18288" rIns="18288" tIns="0" bIns="0">
            <a:spAutoFit/>
          </a:bodyPr>
          <a:lstStyle/>
          <a:p>
            <a:pPr>
              <a:spcAft>
                <a:spcPts val="900"/>
              </a:spcAft>
              <a:defRPr sz="1100" b="0">
                <a:solidFill>
                  <a:srgbClr val="FFFFFF"/>
                </a:solidFill>
                <a:latin typeface="DejaVu Sans"/>
              </a:defRPr>
            </a:pPr>
            <a:r>
              <a:t>Measured offline</a:t>
            </a:r>
          </a:p>
        </p:txBody>
      </p:sp>
      <p:sp>
        <p:nvSpPr>
          <p:cNvPr id="21" name="TextBox 20"/>
          <p:cNvSpPr txBox="1"/>
          <p:nvPr/>
        </p:nvSpPr>
        <p:spPr>
          <a:xfrm>
            <a:off x="7845552" y="3246120"/>
            <a:ext cx="228600" cy="365760"/>
          </a:xfrm>
          <a:prstGeom prst="rect">
            <a:avLst/>
          </a:prstGeom>
          <a:noFill/>
        </p:spPr>
        <p:txBody>
          <a:bodyPr wrap="square" lIns="18288" rIns="18288" tIns="0" bIns="0">
            <a:spAutoFit/>
          </a:bodyPr>
          <a:lstStyle/>
          <a:p>
            <a:pPr>
              <a:spcAft>
                <a:spcPts val="900"/>
              </a:spcAft>
              <a:defRPr sz="1800" b="0">
                <a:solidFill>
                  <a:srgbClr val="007C78"/>
                </a:solidFill>
                <a:latin typeface="DejaVu Sans"/>
              </a:defRPr>
            </a:pPr>
            <a:r>
              <a:t>→</a:t>
            </a:r>
          </a:p>
        </p:txBody>
      </p:sp>
      <p:sp>
        <p:nvSpPr>
          <p:cNvPr id="22" name="Rectangle 21"/>
          <p:cNvSpPr/>
          <p:nvPr/>
        </p:nvSpPr>
        <p:spPr>
          <a:xfrm>
            <a:off x="8055864" y="2788920"/>
            <a:ext cx="1645920" cy="1371600"/>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65592" y="3017520"/>
            <a:ext cx="1426464" cy="621792"/>
          </a:xfrm>
          <a:prstGeom prst="rect">
            <a:avLst/>
          </a:prstGeom>
          <a:noFill/>
        </p:spPr>
        <p:txBody>
          <a:bodyPr wrap="square" lIns="18288" rIns="18288" tIns="0" bIns="0">
            <a:spAutoFit/>
          </a:bodyPr>
          <a:lstStyle/>
          <a:p>
            <a:pPr>
              <a:spcAft>
                <a:spcPts val="900"/>
              </a:spcAft>
              <a:defRPr sz="1500" b="1">
                <a:solidFill>
                  <a:srgbClr val="FFFFFF"/>
                </a:solidFill>
                <a:latin typeface="DejaVu Sans"/>
              </a:defRPr>
            </a:pPr>
            <a:r>
              <a:t>NetMamba+</a:t>
            </a:r>
          </a:p>
        </p:txBody>
      </p:sp>
      <p:sp>
        <p:nvSpPr>
          <p:cNvPr id="24" name="TextBox 23"/>
          <p:cNvSpPr txBox="1"/>
          <p:nvPr/>
        </p:nvSpPr>
        <p:spPr>
          <a:xfrm>
            <a:off x="8165592" y="3685032"/>
            <a:ext cx="1426464" cy="347472"/>
          </a:xfrm>
          <a:prstGeom prst="rect">
            <a:avLst/>
          </a:prstGeom>
          <a:noFill/>
        </p:spPr>
        <p:txBody>
          <a:bodyPr wrap="square" lIns="18288" rIns="18288" tIns="0" bIns="0">
            <a:spAutoFit/>
          </a:bodyPr>
          <a:lstStyle/>
          <a:p>
            <a:pPr>
              <a:spcAft>
                <a:spcPts val="900"/>
              </a:spcAft>
              <a:defRPr sz="1100" b="0">
                <a:solidFill>
                  <a:srgbClr val="FFFFFF"/>
                </a:solidFill>
                <a:latin typeface="DejaVu Sans"/>
              </a:defRPr>
            </a:pPr>
            <a:r>
              <a:t>Measured on GPU</a:t>
            </a:r>
          </a:p>
        </p:txBody>
      </p:sp>
      <p:sp>
        <p:nvSpPr>
          <p:cNvPr id="25" name="TextBox 24"/>
          <p:cNvSpPr txBox="1"/>
          <p:nvPr/>
        </p:nvSpPr>
        <p:spPr>
          <a:xfrm>
            <a:off x="9710928" y="3246120"/>
            <a:ext cx="228600" cy="365760"/>
          </a:xfrm>
          <a:prstGeom prst="rect">
            <a:avLst/>
          </a:prstGeom>
          <a:noFill/>
        </p:spPr>
        <p:txBody>
          <a:bodyPr wrap="square" lIns="18288" rIns="18288" tIns="0" bIns="0">
            <a:spAutoFit/>
          </a:bodyPr>
          <a:lstStyle/>
          <a:p>
            <a:pPr>
              <a:spcAft>
                <a:spcPts val="900"/>
              </a:spcAft>
              <a:defRPr sz="1800" b="0">
                <a:solidFill>
                  <a:srgbClr val="007C78"/>
                </a:solidFill>
                <a:latin typeface="DejaVu Sans"/>
              </a:defRPr>
            </a:pPr>
            <a:r>
              <a:t>→</a:t>
            </a:r>
          </a:p>
        </p:txBody>
      </p:sp>
      <p:sp>
        <p:nvSpPr>
          <p:cNvPr id="26" name="Rectangle 25"/>
          <p:cNvSpPr/>
          <p:nvPr/>
        </p:nvSpPr>
        <p:spPr>
          <a:xfrm>
            <a:off x="9921240" y="2788920"/>
            <a:ext cx="1645920" cy="1371600"/>
          </a:xfrm>
          <a:prstGeom prst="rect">
            <a:avLst/>
          </a:prstGeom>
          <a:solidFill>
            <a:srgbClr val="FFFFFF"/>
          </a:solidFill>
          <a:ln w="12700">
            <a:solidFill>
              <a:srgbClr val="5167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30967" y="3017520"/>
            <a:ext cx="1426464" cy="621792"/>
          </a:xfrm>
          <a:prstGeom prst="rect">
            <a:avLst/>
          </a:prstGeom>
          <a:noFill/>
        </p:spPr>
        <p:txBody>
          <a:bodyPr wrap="square" lIns="18288" rIns="18288" tIns="0" bIns="0">
            <a:spAutoFit/>
          </a:bodyPr>
          <a:lstStyle/>
          <a:p>
            <a:pPr>
              <a:spcAft>
                <a:spcPts val="900"/>
              </a:spcAft>
              <a:defRPr sz="1700" b="1">
                <a:solidFill>
                  <a:srgbClr val="132C38"/>
                </a:solidFill>
                <a:latin typeface="DejaVu Sans"/>
              </a:defRPr>
            </a:pPr>
            <a:r>
              <a:t>Alert policy</a:t>
            </a:r>
          </a:p>
        </p:txBody>
      </p:sp>
      <p:sp>
        <p:nvSpPr>
          <p:cNvPr id="28" name="TextBox 27"/>
          <p:cNvSpPr txBox="1"/>
          <p:nvPr/>
        </p:nvSpPr>
        <p:spPr>
          <a:xfrm>
            <a:off x="10030967" y="3685032"/>
            <a:ext cx="1426464" cy="347472"/>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Future</a:t>
            </a:r>
          </a:p>
        </p:txBody>
      </p:sp>
      <p:sp>
        <p:nvSpPr>
          <p:cNvPr id="29" name="TextBox 28"/>
          <p:cNvSpPr txBox="1"/>
          <p:nvPr/>
        </p:nvSpPr>
        <p:spPr>
          <a:xfrm>
            <a:off x="749808" y="4709160"/>
            <a:ext cx="10698480" cy="594360"/>
          </a:xfrm>
          <a:prstGeom prst="rect">
            <a:avLst/>
          </a:prstGeom>
          <a:noFill/>
        </p:spPr>
        <p:txBody>
          <a:bodyPr wrap="square" lIns="18288" rIns="18288" tIns="0" bIns="0">
            <a:spAutoFit/>
          </a:bodyPr>
          <a:lstStyle/>
          <a:p>
            <a:pPr>
              <a:spcAft>
                <a:spcPts val="900"/>
              </a:spcAft>
              <a:defRPr sz="1900" b="0">
                <a:solidFill>
                  <a:srgbClr val="132C38"/>
                </a:solidFill>
                <a:latin typeface="DejaVu Sans"/>
              </a:defRPr>
            </a:pPr>
            <a:r>
              <a:t>Measure independent-traffic accuracy, false alerts, packet loss, flow waiting and queue delay.</a:t>
            </a:r>
          </a:p>
        </p:txBody>
      </p:sp>
      <p:sp>
        <p:nvSpPr>
          <p:cNvPr id="30" name="Rectangle 29"/>
          <p:cNvSpPr/>
          <p:nvPr/>
        </p:nvSpPr>
        <p:spPr>
          <a:xfrm>
            <a:off x="594360" y="5806440"/>
            <a:ext cx="11000232" cy="512064"/>
          </a:xfrm>
          <a:prstGeom prst="rect">
            <a:avLst/>
          </a:prstGeom>
          <a:solidFill>
            <a:srgbClr val="E0E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897880"/>
            <a:ext cx="10735056" cy="365760"/>
          </a:xfrm>
          <a:prstGeom prst="rect">
            <a:avLst/>
          </a:prstGeom>
          <a:noFill/>
        </p:spPr>
        <p:txBody>
          <a:bodyPr wrap="square" lIns="18288" rIns="18288" tIns="0" bIns="0">
            <a:spAutoFit/>
          </a:bodyPr>
          <a:lstStyle/>
          <a:p>
            <a:pPr>
              <a:spcAft>
                <a:spcPts val="900"/>
              </a:spcAft>
              <a:defRPr sz="1250" b="0">
                <a:solidFill>
                  <a:srgbClr val="132C38"/>
                </a:solidFill>
                <a:latin typeface="DejaVu Sans"/>
              </a:defRPr>
            </a:pPr>
            <a:r>
              <a:t>First milestone: a reviewed PCAP produces the same tensors as the training extractor, then run alert-only trials.</a:t>
            </a:r>
          </a:p>
        </p:txBody>
      </p:sp>
      <p:sp>
        <p:nvSpPr>
          <p:cNvPr id="32" name="TextBox 31"/>
          <p:cNvSpPr txBox="1"/>
          <p:nvPr/>
        </p:nvSpPr>
        <p:spPr>
          <a:xfrm>
            <a:off x="594360" y="6519672"/>
            <a:ext cx="10424160" cy="182880"/>
          </a:xfrm>
          <a:prstGeom prst="rect">
            <a:avLst/>
          </a:prstGeom>
          <a:noFill/>
        </p:spPr>
        <p:txBody>
          <a:bodyPr wrap="square" lIns="18288" rIns="18288" tIns="0" bIns="0">
            <a:spAutoFit/>
          </a:bodyPr>
          <a:lstStyle/>
          <a:p>
            <a:pPr>
              <a:spcAft>
                <a:spcPts val="900"/>
              </a:spcAft>
              <a:defRPr sz="900" b="0">
                <a:solidFill>
                  <a:srgbClr val="516774"/>
                </a:solidFill>
                <a:latin typeface="DejaVu Sans"/>
              </a:defRPr>
            </a:pPr>
            <a:r>
              <a:rPr>
                <a:hlinkClick r:id="rId3"/>
              </a:rPr>
              <a:t>NETMAMBA+  /  MEASURED RESEARCH  /  15 September 2026</a:t>
            </a:r>
          </a:p>
        </p:txBody>
      </p:sp>
      <p:sp>
        <p:nvSpPr>
          <p:cNvPr id="33" name="TextBox 32"/>
          <p:cNvSpPr txBox="1"/>
          <p:nvPr/>
        </p:nvSpPr>
        <p:spPr>
          <a:xfrm>
            <a:off x="11155680" y="6473952"/>
            <a:ext cx="457200" cy="228600"/>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38328"/>
            <a:ext cx="10789920" cy="274320"/>
          </a:xfrm>
          <a:prstGeom prst="rect">
            <a:avLst/>
          </a:prstGeom>
          <a:noFill/>
        </p:spPr>
        <p:txBody>
          <a:bodyPr wrap="square" lIns="18288" rIns="18288" tIns="0" bIns="0">
            <a:spAutoFit/>
          </a:bodyPr>
          <a:lstStyle/>
          <a:p>
            <a:pPr>
              <a:spcAft>
                <a:spcPts val="900"/>
              </a:spcAft>
              <a:defRPr sz="1100" b="1">
                <a:solidFill>
                  <a:srgbClr val="007C78"/>
                </a:solidFill>
                <a:latin typeface="DejaVu Sans"/>
              </a:defRPr>
            </a:pPr>
            <a:r>
              <a:t>10 / AI NPU AND SMARTNIC MAPPING</a:t>
            </a:r>
          </a:p>
        </p:txBody>
      </p:sp>
      <p:sp>
        <p:nvSpPr>
          <p:cNvPr id="4" name="TextBox 3"/>
          <p:cNvSpPr txBox="1"/>
          <p:nvPr/>
        </p:nvSpPr>
        <p:spPr>
          <a:xfrm>
            <a:off x="594360" y="841248"/>
            <a:ext cx="10972800" cy="621792"/>
          </a:xfrm>
          <a:prstGeom prst="rect">
            <a:avLst/>
          </a:prstGeom>
          <a:noFill/>
        </p:spPr>
        <p:txBody>
          <a:bodyPr wrap="square" lIns="18288" rIns="18288" tIns="0" bIns="0">
            <a:spAutoFit/>
          </a:bodyPr>
          <a:lstStyle/>
          <a:p>
            <a:pPr>
              <a:spcAft>
                <a:spcPts val="900"/>
              </a:spcAft>
              <a:defRPr sz="3400" b="0">
                <a:solidFill>
                  <a:srgbClr val="132C38"/>
                </a:solidFill>
                <a:latin typeface="Liberation Serif"/>
              </a:defRPr>
            </a:pPr>
            <a:r>
              <a:t>Split packet handling from neural inference</a:t>
            </a:r>
          </a:p>
        </p:txBody>
      </p:sp>
      <p:sp>
        <p:nvSpPr>
          <p:cNvPr id="5" name="TextBox 4"/>
          <p:cNvSpPr txBox="1"/>
          <p:nvPr/>
        </p:nvSpPr>
        <p:spPr>
          <a:xfrm>
            <a:off x="594360" y="1600200"/>
            <a:ext cx="10881360" cy="548640"/>
          </a:xfrm>
          <a:prstGeom prst="rect">
            <a:avLst/>
          </a:prstGeom>
          <a:noFill/>
        </p:spPr>
        <p:txBody>
          <a:bodyPr wrap="square" lIns="18288" rIns="18288" tIns="0" bIns="0">
            <a:spAutoFit/>
          </a:bodyPr>
          <a:lstStyle/>
          <a:p>
            <a:pPr>
              <a:spcAft>
                <a:spcPts val="900"/>
              </a:spcAft>
              <a:defRPr sz="1600" b="0">
                <a:solidFill>
                  <a:srgbClr val="516774"/>
                </a:solidFill>
                <a:latin typeface="DejaVu Sans"/>
              </a:defRPr>
            </a:pPr>
            <a:r>
              <a:t>No NPU or SmartNIC execution is claimed in this project.</a:t>
            </a:r>
          </a:p>
        </p:txBody>
      </p:sp>
      <p:sp>
        <p:nvSpPr>
          <p:cNvPr id="6" name="Rectangle 5"/>
          <p:cNvSpPr/>
          <p:nvPr/>
        </p:nvSpPr>
        <p:spPr>
          <a:xfrm>
            <a:off x="5943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SmartNIC / DPU</a:t>
            </a:r>
          </a:p>
        </p:txBody>
      </p:sp>
      <p:sp>
        <p:nvSpPr>
          <p:cNvPr id="9" name="TextBox 8"/>
          <p:cNvSpPr txBox="1"/>
          <p:nvPr/>
        </p:nvSpPr>
        <p:spPr>
          <a:xfrm>
            <a:off x="795528" y="3264408"/>
            <a:ext cx="3130296"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Steer, filter, count and queue packets.</a:t>
            </a:r>
          </a:p>
          <a:p>
            <a:pPr>
              <a:spcAft>
                <a:spcPts val="900"/>
              </a:spcAft>
              <a:defRPr sz="1700" b="0">
                <a:solidFill>
                  <a:srgbClr val="132C38"/>
                </a:solidFill>
                <a:latin typeface="DejaVu Sans"/>
              </a:defRPr>
            </a:pPr>
            <a:r>
              <a:t>Host or Arm cores manage flows and extraction.</a:t>
            </a:r>
          </a:p>
          <a:p>
            <a:pPr>
              <a:spcAft>
                <a:spcPts val="900"/>
              </a:spcAft>
              <a:defRPr sz="1700" b="0">
                <a:solidFill>
                  <a:srgbClr val="132C38"/>
                </a:solidFill>
                <a:latin typeface="DejaVu Sans"/>
              </a:defRPr>
            </a:pPr>
            <a:r>
              <a:t>DOCA Flow is a candidate integration layer.</a:t>
            </a:r>
          </a:p>
        </p:txBody>
      </p:sp>
      <p:sp>
        <p:nvSpPr>
          <p:cNvPr id="10" name="Rectangle 9"/>
          <p:cNvSpPr/>
          <p:nvPr/>
        </p:nvSpPr>
        <p:spPr>
          <a:xfrm>
            <a:off x="43281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81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93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GPU / AI NPU</a:t>
            </a:r>
          </a:p>
        </p:txBody>
      </p:sp>
      <p:sp>
        <p:nvSpPr>
          <p:cNvPr id="13" name="TextBox 12"/>
          <p:cNvSpPr txBox="1"/>
          <p:nvPr/>
        </p:nvSpPr>
        <p:spPr>
          <a:xfrm>
            <a:off x="4529328" y="3264408"/>
            <a:ext cx="3130296"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GPU path works here.</a:t>
            </a:r>
          </a:p>
          <a:p>
            <a:pPr>
              <a:spcAft>
                <a:spcPts val="900"/>
              </a:spcAft>
              <a:defRPr sz="1700" b="0">
                <a:solidFill>
                  <a:srgbClr val="132C38"/>
                </a:solidFill>
                <a:latin typeface="DejaVu Sans"/>
              </a:defRPr>
            </a:pPr>
            <a:r>
              <a:t>An NPU needs a named compiler/device and support for the selective scan, causal convolution and normalization.</a:t>
            </a:r>
          </a:p>
        </p:txBody>
      </p:sp>
      <p:sp>
        <p:nvSpPr>
          <p:cNvPr id="14" name="Rectangle 13"/>
          <p:cNvSpPr/>
          <p:nvPr/>
        </p:nvSpPr>
        <p:spPr>
          <a:xfrm>
            <a:off x="80619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19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31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Proof before sizing</a:t>
            </a:r>
          </a:p>
        </p:txBody>
      </p:sp>
      <p:sp>
        <p:nvSpPr>
          <p:cNvPr id="17" name="TextBox 16"/>
          <p:cNvSpPr txBox="1"/>
          <p:nvPr/>
        </p:nvSpPr>
        <p:spPr>
          <a:xfrm>
            <a:off x="8263128" y="3264408"/>
            <a:ext cx="3130296"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Export status: not captured in the tested Torch path</a:t>
            </a:r>
          </a:p>
          <a:p>
            <a:pPr>
              <a:spcAft>
                <a:spcPts val="900"/>
              </a:spcAft>
              <a:defRPr sz="1700" b="0">
                <a:solidFill>
                  <a:srgbClr val="132C38"/>
                </a:solidFill>
                <a:latin typeface="DejaVu Sans"/>
              </a:defRPr>
            </a:pPr>
            <a:r>
              <a:t>Then verify precision, memory and per-class accuracy.</a:t>
            </a:r>
          </a:p>
          <a:p>
            <a:pPr>
              <a:spcAft>
                <a:spcPts val="900"/>
              </a:spcAft>
              <a:defRPr sz="1700" b="0">
                <a:solidFill>
                  <a:srgbClr val="132C38"/>
                </a:solidFill>
                <a:latin typeface="DejaVu Sans"/>
              </a:defRPr>
            </a:pPr>
            <a:r>
              <a:t>Measure on the target hardware.</a:t>
            </a:r>
          </a:p>
        </p:txBody>
      </p:sp>
      <p:sp>
        <p:nvSpPr>
          <p:cNvPr id="18" name="Rectangle 17"/>
          <p:cNvSpPr/>
          <p:nvPr/>
        </p:nvSpPr>
        <p:spPr>
          <a:xfrm>
            <a:off x="594360" y="5806440"/>
            <a:ext cx="11000232" cy="512064"/>
          </a:xfrm>
          <a:prstGeom prst="rect">
            <a:avLst/>
          </a:prstGeom>
          <a:solidFill>
            <a:srgbClr val="E0E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97880"/>
            <a:ext cx="10735056" cy="365760"/>
          </a:xfrm>
          <a:prstGeom prst="rect">
            <a:avLst/>
          </a:prstGeom>
          <a:noFill/>
        </p:spPr>
        <p:txBody>
          <a:bodyPr wrap="square" lIns="18288" rIns="18288" tIns="0" bIns="0">
            <a:spAutoFit/>
          </a:bodyPr>
          <a:lstStyle/>
          <a:p>
            <a:pPr>
              <a:spcAft>
                <a:spcPts val="900"/>
              </a:spcAft>
              <a:defRPr sz="1250" b="0">
                <a:solidFill>
                  <a:srgbClr val="132C38"/>
                </a:solidFill>
                <a:latin typeface="DejaVu Sans"/>
              </a:defRPr>
            </a:pPr>
            <a:r>
              <a:t>DGX Spark does not support GPUDirect RDMA in current DOCA GPUNetIO documentation. Do not assume a direct NIC-to-GPU path.</a:t>
            </a:r>
          </a:p>
        </p:txBody>
      </p:sp>
      <p:sp>
        <p:nvSpPr>
          <p:cNvPr id="20" name="TextBox 19"/>
          <p:cNvSpPr txBox="1"/>
          <p:nvPr/>
        </p:nvSpPr>
        <p:spPr>
          <a:xfrm>
            <a:off x="594360" y="6519672"/>
            <a:ext cx="10424160" cy="182880"/>
          </a:xfrm>
          <a:prstGeom prst="rect">
            <a:avLst/>
          </a:prstGeom>
          <a:noFill/>
        </p:spPr>
        <p:txBody>
          <a:bodyPr wrap="square" lIns="18288" rIns="18288" tIns="0" bIns="0">
            <a:spAutoFit/>
          </a:bodyPr>
          <a:lstStyle/>
          <a:p>
            <a:pPr>
              <a:spcAft>
                <a:spcPts val="900"/>
              </a:spcAft>
              <a:defRPr sz="900" b="0">
                <a:solidFill>
                  <a:srgbClr val="516774"/>
                </a:solidFill>
                <a:latin typeface="DejaVu Sans"/>
              </a:defRPr>
            </a:pPr>
            <a:r>
              <a:rPr>
                <a:hlinkClick r:id="rId3"/>
              </a:rPr>
              <a:t>NETMAMBA+  /  MEASURED RESEARCH  /  15 September 2026</a:t>
            </a:r>
          </a:p>
        </p:txBody>
      </p:sp>
      <p:sp>
        <p:nvSpPr>
          <p:cNvPr id="21" name="TextBox 20"/>
          <p:cNvSpPr txBox="1"/>
          <p:nvPr/>
        </p:nvSpPr>
        <p:spPr>
          <a:xfrm>
            <a:off x="11155680" y="6473952"/>
            <a:ext cx="457200" cy="228600"/>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38328"/>
            <a:ext cx="10789920" cy="274320"/>
          </a:xfrm>
          <a:prstGeom prst="rect">
            <a:avLst/>
          </a:prstGeom>
          <a:noFill/>
        </p:spPr>
        <p:txBody>
          <a:bodyPr wrap="square" lIns="18288" rIns="18288" tIns="0" bIns="0">
            <a:spAutoFit/>
          </a:bodyPr>
          <a:lstStyle/>
          <a:p>
            <a:pPr>
              <a:spcAft>
                <a:spcPts val="900"/>
              </a:spcAft>
              <a:defRPr sz="1100" b="1">
                <a:solidFill>
                  <a:srgbClr val="007C78"/>
                </a:solidFill>
                <a:latin typeface="DejaVu Sans"/>
              </a:defRPr>
            </a:pPr>
            <a:r>
              <a:t>11 / THE DEFENSIBLE CUSTOMER STATEMENT</a:t>
            </a:r>
          </a:p>
        </p:txBody>
      </p:sp>
      <p:sp>
        <p:nvSpPr>
          <p:cNvPr id="4" name="TextBox 3"/>
          <p:cNvSpPr txBox="1"/>
          <p:nvPr/>
        </p:nvSpPr>
        <p:spPr>
          <a:xfrm>
            <a:off x="594360" y="841248"/>
            <a:ext cx="10972800" cy="621792"/>
          </a:xfrm>
          <a:prstGeom prst="rect">
            <a:avLst/>
          </a:prstGeom>
          <a:noFill/>
        </p:spPr>
        <p:txBody>
          <a:bodyPr wrap="square" lIns="18288" rIns="18288" tIns="0" bIns="0">
            <a:spAutoFit/>
          </a:bodyPr>
          <a:lstStyle/>
          <a:p>
            <a:pPr>
              <a:spcAft>
                <a:spcPts val="900"/>
              </a:spcAft>
              <a:defRPr sz="3400" b="0">
                <a:solidFill>
                  <a:srgbClr val="132C38"/>
                </a:solidFill>
                <a:latin typeface="Liberation Serif"/>
              </a:defRPr>
            </a:pPr>
            <a:r>
              <a:t>A measured research baseline to build from</a:t>
            </a:r>
          </a:p>
        </p:txBody>
      </p:sp>
      <p:sp>
        <p:nvSpPr>
          <p:cNvPr id="5" name="TextBox 4"/>
          <p:cNvSpPr txBox="1"/>
          <p:nvPr/>
        </p:nvSpPr>
        <p:spPr>
          <a:xfrm>
            <a:off x="594360" y="1600200"/>
            <a:ext cx="10881360" cy="548640"/>
          </a:xfrm>
          <a:prstGeom prst="rect">
            <a:avLst/>
          </a:prstGeom>
          <a:noFill/>
        </p:spPr>
        <p:txBody>
          <a:bodyPr wrap="square" lIns="18288" rIns="18288" tIns="0" bIns="0">
            <a:spAutoFit/>
          </a:bodyPr>
          <a:lstStyle/>
          <a:p>
            <a:pPr>
              <a:spcAft>
                <a:spcPts val="900"/>
              </a:spcAft>
              <a:defRPr sz="1600" b="0">
                <a:solidFill>
                  <a:srgbClr val="516774"/>
                </a:solidFill>
                <a:latin typeface="DejaVu Sans"/>
              </a:defRPr>
            </a:pPr>
            <a:r>
              <a:t>We trained and tested the original NetMamba+ classifier on compatible flows, with a documented GB10 runtime port.</a:t>
            </a:r>
          </a:p>
        </p:txBody>
      </p:sp>
      <p:sp>
        <p:nvSpPr>
          <p:cNvPr id="6" name="Rectangle 5"/>
          <p:cNvSpPr/>
          <p:nvPr/>
        </p:nvSpPr>
        <p:spPr>
          <a:xfrm>
            <a:off x="594360" y="2423160"/>
            <a:ext cx="5399531"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423160"/>
            <a:ext cx="5399531"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606040"/>
            <a:ext cx="4997195"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Ready to show</a:t>
            </a:r>
          </a:p>
        </p:txBody>
      </p:sp>
      <p:sp>
        <p:nvSpPr>
          <p:cNvPr id="9" name="TextBox 8"/>
          <p:cNvSpPr txBox="1"/>
          <p:nvPr/>
        </p:nvSpPr>
        <p:spPr>
          <a:xfrm>
            <a:off x="795528" y="3264408"/>
            <a:ext cx="4997195"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Three completed fine-tuning runs</a:t>
            </a:r>
          </a:p>
          <a:p>
            <a:pPr>
              <a:spcAft>
                <a:spcPts val="900"/>
              </a:spcAft>
              <a:defRPr sz="1700" b="0">
                <a:solidFill>
                  <a:srgbClr val="132C38"/>
                </a:solidFill>
                <a:latin typeface="DejaVu Sans"/>
              </a:defRPr>
            </a:pPr>
            <a:r>
              <a:t>Strict saved-model inference</a:t>
            </a:r>
          </a:p>
          <a:p>
            <a:pPr>
              <a:spcAft>
                <a:spcPts val="900"/>
              </a:spcAft>
              <a:defRPr sz="1700" b="0">
                <a:solidFill>
                  <a:srgbClr val="132C38"/>
                </a:solidFill>
                <a:latin typeface="DejaVu Sans"/>
              </a:defRPr>
            </a:pPr>
            <a:r>
              <a:t>Independent metrics and errors</a:t>
            </a:r>
          </a:p>
          <a:p>
            <a:pPr>
              <a:spcAft>
                <a:spcPts val="900"/>
              </a:spcAft>
              <a:defRPr sz="1700" b="0">
                <a:solidFill>
                  <a:srgbClr val="132C38"/>
                </a:solidFill>
                <a:latin typeface="DejaVu Sans"/>
              </a:defRPr>
            </a:pPr>
            <a:r>
              <a:t>Offline replay, documents and evidence</a:t>
            </a:r>
          </a:p>
        </p:txBody>
      </p:sp>
      <p:sp>
        <p:nvSpPr>
          <p:cNvPr id="10" name="Rectangle 9"/>
          <p:cNvSpPr/>
          <p:nvPr/>
        </p:nvSpPr>
        <p:spPr>
          <a:xfrm>
            <a:off x="6195059" y="2423160"/>
            <a:ext cx="5399531"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5059" y="2423160"/>
            <a:ext cx="5399531"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6227" y="2606040"/>
            <a:ext cx="4997195"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Still to establish</a:t>
            </a:r>
          </a:p>
        </p:txBody>
      </p:sp>
      <p:sp>
        <p:nvSpPr>
          <p:cNvPr id="13" name="TextBox 12"/>
          <p:cNvSpPr txBox="1"/>
          <p:nvPr/>
        </p:nvSpPr>
        <p:spPr>
          <a:xfrm>
            <a:off x="6396227" y="3264408"/>
            <a:ext cx="4997195" cy="1920239"/>
          </a:xfrm>
          <a:prstGeom prst="rect">
            <a:avLst/>
          </a:prstGeom>
          <a:noFill/>
        </p:spPr>
        <p:txBody>
          <a:bodyPr wrap="square" lIns="18288" rIns="18288" tIns="0" bIns="0">
            <a:spAutoFit/>
          </a:bodyPr>
          <a:lstStyle/>
          <a:p>
            <a:pPr>
              <a:spcAft>
                <a:spcPts val="900"/>
              </a:spcAft>
              <a:defRPr sz="1700" b="0">
                <a:solidFill>
                  <a:srgbClr val="132C38"/>
                </a:solidFill>
                <a:latin typeface="DejaVu Sans"/>
              </a:defRPr>
            </a:pPr>
            <a:r>
              <a:t>Full Browser/Kitsune pretraining history</a:t>
            </a:r>
          </a:p>
          <a:p>
            <a:pPr>
              <a:spcAft>
                <a:spcPts val="900"/>
              </a:spcAft>
              <a:defRPr sz="1700" b="0">
                <a:solidFill>
                  <a:srgbClr val="132C38"/>
                </a:solidFill>
                <a:latin typeface="DejaVu Sans"/>
              </a:defRPr>
            </a:pPr>
            <a:r>
              <a:t>Exact paper-protocol reproduction</a:t>
            </a:r>
          </a:p>
          <a:p>
            <a:pPr>
              <a:spcAft>
                <a:spcPts val="900"/>
              </a:spcAft>
              <a:defRPr sz="1700" b="0">
                <a:solidFill>
                  <a:srgbClr val="132C38"/>
                </a:solidFill>
                <a:latin typeface="DejaVu Sans"/>
              </a:defRPr>
            </a:pPr>
            <a:r>
              <a:t>Independent customer traffic + live extraction</a:t>
            </a:r>
          </a:p>
          <a:p>
            <a:pPr>
              <a:spcAft>
                <a:spcPts val="900"/>
              </a:spcAft>
              <a:defRPr sz="1700" b="0">
                <a:solidFill>
                  <a:srgbClr val="132C38"/>
                </a:solidFill>
                <a:latin typeface="DejaVu Sans"/>
              </a:defRPr>
            </a:pPr>
            <a:r>
              <a:t>Calibrated IDS policy + target hardware execution</a:t>
            </a:r>
          </a:p>
        </p:txBody>
      </p:sp>
      <p:sp>
        <p:nvSpPr>
          <p:cNvPr id="14" name="Rectangle 13"/>
          <p:cNvSpPr/>
          <p:nvPr/>
        </p:nvSpPr>
        <p:spPr>
          <a:xfrm>
            <a:off x="594360" y="5806440"/>
            <a:ext cx="11000232" cy="512064"/>
          </a:xfrm>
          <a:prstGeom prst="rect">
            <a:avLst/>
          </a:prstGeom>
          <a:solidFill>
            <a:srgbClr val="E0E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897880"/>
            <a:ext cx="10735056" cy="365760"/>
          </a:xfrm>
          <a:prstGeom prst="rect">
            <a:avLst/>
          </a:prstGeom>
          <a:noFill/>
        </p:spPr>
        <p:txBody>
          <a:bodyPr wrap="square" lIns="18288" rIns="18288" tIns="0" bIns="0">
            <a:spAutoFit/>
          </a:bodyPr>
          <a:lstStyle/>
          <a:p>
            <a:pPr>
              <a:spcAft>
                <a:spcPts val="900"/>
              </a:spcAft>
              <a:defRPr sz="1250" b="0">
                <a:solidFill>
                  <a:srgbClr val="132C38"/>
                </a:solidFill>
                <a:latin typeface="DejaVu Sans"/>
              </a:defRPr>
            </a:pPr>
            <a:r>
              <a:t>Next decision: agree on representative traffic and a specific deployment target before promising operational performance.</a:t>
            </a:r>
          </a:p>
        </p:txBody>
      </p:sp>
      <p:sp>
        <p:nvSpPr>
          <p:cNvPr id="16" name="TextBox 15"/>
          <p:cNvSpPr txBox="1"/>
          <p:nvPr/>
        </p:nvSpPr>
        <p:spPr>
          <a:xfrm>
            <a:off x="594360" y="6519672"/>
            <a:ext cx="10424160" cy="182880"/>
          </a:xfrm>
          <a:prstGeom prst="rect">
            <a:avLst/>
          </a:prstGeom>
          <a:noFill/>
        </p:spPr>
        <p:txBody>
          <a:bodyPr wrap="square" lIns="18288" rIns="18288" tIns="0" bIns="0">
            <a:spAutoFit/>
          </a:bodyPr>
          <a:lstStyle/>
          <a:p>
            <a:pPr>
              <a:spcAft>
                <a:spcPts val="900"/>
              </a:spcAft>
              <a:defRPr sz="900" b="0">
                <a:solidFill>
                  <a:srgbClr val="516774"/>
                </a:solidFill>
                <a:latin typeface="DejaVu Sans"/>
              </a:defRPr>
            </a:pPr>
            <a:r>
              <a:rPr>
                <a:hlinkClick r:id="rId3"/>
              </a:rPr>
              <a:t>NETMAMBA+  /  MEASURED RESEARCH  /  15 September 2026</a:t>
            </a:r>
          </a:p>
        </p:txBody>
      </p:sp>
      <p:sp>
        <p:nvSpPr>
          <p:cNvPr id="17" name="TextBox 16"/>
          <p:cNvSpPr txBox="1"/>
          <p:nvPr/>
        </p:nvSpPr>
        <p:spPr>
          <a:xfrm>
            <a:off x="11155680" y="6473952"/>
            <a:ext cx="457200" cy="228600"/>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38328"/>
            <a:ext cx="10789920" cy="274320"/>
          </a:xfrm>
          <a:prstGeom prst="rect">
            <a:avLst/>
          </a:prstGeom>
          <a:noFill/>
        </p:spPr>
        <p:txBody>
          <a:bodyPr wrap="square" lIns="18288" rIns="18288" tIns="0" bIns="0">
            <a:spAutoFit/>
          </a:bodyPr>
          <a:lstStyle/>
          <a:p>
            <a:pPr>
              <a:spcAft>
                <a:spcPts val="900"/>
              </a:spcAft>
              <a:defRPr sz="1100" b="1">
                <a:solidFill>
                  <a:srgbClr val="007C78"/>
                </a:solidFill>
                <a:latin typeface="DejaVu Sans"/>
              </a:defRPr>
            </a:pPr>
            <a:r>
              <a:t>APPENDIX / WHERE TO VERIFY IT</a:t>
            </a:r>
          </a:p>
        </p:txBody>
      </p:sp>
      <p:sp>
        <p:nvSpPr>
          <p:cNvPr id="4" name="TextBox 3"/>
          <p:cNvSpPr txBox="1"/>
          <p:nvPr/>
        </p:nvSpPr>
        <p:spPr>
          <a:xfrm>
            <a:off x="594360" y="841248"/>
            <a:ext cx="10972800" cy="621792"/>
          </a:xfrm>
          <a:prstGeom prst="rect">
            <a:avLst/>
          </a:prstGeom>
          <a:noFill/>
        </p:spPr>
        <p:txBody>
          <a:bodyPr wrap="square" lIns="18288" rIns="18288" tIns="0" bIns="0">
            <a:spAutoFit/>
          </a:bodyPr>
          <a:lstStyle/>
          <a:p>
            <a:pPr>
              <a:spcAft>
                <a:spcPts val="900"/>
              </a:spcAft>
              <a:defRPr sz="3400" b="0">
                <a:solidFill>
                  <a:srgbClr val="132C38"/>
                </a:solidFill>
                <a:latin typeface="Liberation Serif"/>
              </a:defRPr>
            </a:pPr>
            <a:r>
              <a:t>Every measured claim has a saved artifact</a:t>
            </a:r>
          </a:p>
        </p:txBody>
      </p:sp>
      <p:sp>
        <p:nvSpPr>
          <p:cNvPr id="5" name="TextBox 4"/>
          <p:cNvSpPr txBox="1"/>
          <p:nvPr/>
        </p:nvSpPr>
        <p:spPr>
          <a:xfrm>
            <a:off x="594360" y="1600200"/>
            <a:ext cx="10881360" cy="548640"/>
          </a:xfrm>
          <a:prstGeom prst="rect">
            <a:avLst/>
          </a:prstGeom>
          <a:noFill/>
        </p:spPr>
        <p:txBody>
          <a:bodyPr wrap="square" lIns="18288" rIns="18288" tIns="0" bIns="0">
            <a:spAutoFit/>
          </a:bodyPr>
          <a:lstStyle/>
          <a:p>
            <a:pPr>
              <a:spcAft>
                <a:spcPts val="900"/>
              </a:spcAft>
              <a:defRPr sz="1600" b="0">
                <a:solidFill>
                  <a:srgbClr val="516774"/>
                </a:solidFill>
                <a:latin typeface="DejaVu Sans"/>
              </a:defRPr>
            </a:pPr>
            <a:r>
              <a:t>The repository is the handoff: explanation, editable files, commands and reviewed evidence.</a:t>
            </a:r>
          </a:p>
        </p:txBody>
      </p:sp>
      <p:sp>
        <p:nvSpPr>
          <p:cNvPr id="6" name="Rectangle 5"/>
          <p:cNvSpPr/>
          <p:nvPr/>
        </p:nvSpPr>
        <p:spPr>
          <a:xfrm>
            <a:off x="5943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Start here</a:t>
            </a:r>
          </a:p>
        </p:txBody>
      </p:sp>
      <p:sp>
        <p:nvSpPr>
          <p:cNvPr id="9" name="TextBox 8"/>
          <p:cNvSpPr txBox="1"/>
          <p:nvPr/>
        </p:nvSpPr>
        <p:spPr>
          <a:xfrm>
            <a:off x="795528" y="3264408"/>
            <a:ext cx="3130296" cy="1920239"/>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docs/customer/README.md</a:t>
            </a:r>
          </a:p>
          <a:p>
            <a:pPr>
              <a:spcAft>
                <a:spcPts val="900"/>
              </a:spcAft>
              <a:defRPr sz="1600" b="0">
                <a:solidFill>
                  <a:srgbClr val="132C38"/>
                </a:solidFill>
                <a:latin typeface="DejaVu Sans"/>
              </a:defRPr>
            </a:pPr>
            <a:r>
              <a:t>Briefing PDF + PowerPoint + slide PDF</a:t>
            </a:r>
          </a:p>
          <a:p>
            <a:pPr>
              <a:spcAft>
                <a:spcPts val="900"/>
              </a:spcAft>
              <a:defRPr sz="1600" b="0">
                <a:solidFill>
                  <a:srgbClr val="132C38"/>
                </a:solidFill>
                <a:latin typeface="DejaVu Sans"/>
              </a:defRPr>
            </a:pPr>
            <a:r>
              <a:t>Runbook + talk track + recorded demo</a:t>
            </a:r>
          </a:p>
        </p:txBody>
      </p:sp>
      <p:sp>
        <p:nvSpPr>
          <p:cNvPr id="10" name="Rectangle 9"/>
          <p:cNvSpPr/>
          <p:nvPr/>
        </p:nvSpPr>
        <p:spPr>
          <a:xfrm>
            <a:off x="43281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81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93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Verify results</a:t>
            </a:r>
          </a:p>
        </p:txBody>
      </p:sp>
      <p:sp>
        <p:nvSpPr>
          <p:cNvPr id="13" name="TextBox 12"/>
          <p:cNvSpPr txBox="1"/>
          <p:nvPr/>
        </p:nvSpPr>
        <p:spPr>
          <a:xfrm>
            <a:off x="4529328" y="3264408"/>
            <a:ext cx="3130296" cy="1920239"/>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evidence/results.json</a:t>
            </a:r>
          </a:p>
          <a:p>
            <a:pPr>
              <a:spcAft>
                <a:spcPts val="900"/>
              </a:spcAft>
              <a:defRPr sz="1600" b="0">
                <a:solidFill>
                  <a:srgbClr val="132C38"/>
                </a:solidFill>
                <a:latin typeface="DejaVu Sans"/>
              </a:defRPr>
            </a:pPr>
            <a:r>
              <a:t>Per-seed manifests, epoch logs and predictions</a:t>
            </a:r>
          </a:p>
          <a:p>
            <a:pPr>
              <a:spcAft>
                <a:spcPts val="900"/>
              </a:spcAft>
              <a:defRPr sz="1600" b="0">
                <a:solidFill>
                  <a:srgbClr val="132C38"/>
                </a:solidFill>
                <a:latin typeface="DejaVu Sans"/>
              </a:defRPr>
            </a:pPr>
            <a:r>
              <a:t>Runtime parity + build records + benchmark</a:t>
            </a:r>
          </a:p>
        </p:txBody>
      </p:sp>
      <p:sp>
        <p:nvSpPr>
          <p:cNvPr id="14" name="Rectangle 13"/>
          <p:cNvSpPr/>
          <p:nvPr/>
        </p:nvSpPr>
        <p:spPr>
          <a:xfrm>
            <a:off x="8061960" y="2423160"/>
            <a:ext cx="3532632"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1960" y="2423160"/>
            <a:ext cx="3532632" cy="50292"/>
          </a:xfrm>
          <a:prstGeom prst="rect">
            <a:avLst/>
          </a:prstGeom>
          <a:solidFill>
            <a:srgbClr val="007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3128" y="2606040"/>
            <a:ext cx="3130296" cy="457200"/>
          </a:xfrm>
          <a:prstGeom prst="rect">
            <a:avLst/>
          </a:prstGeom>
          <a:noFill/>
        </p:spPr>
        <p:txBody>
          <a:bodyPr wrap="square" lIns="18288" rIns="18288" tIns="0" bIns="0">
            <a:spAutoFit/>
          </a:bodyPr>
          <a:lstStyle/>
          <a:p>
            <a:pPr>
              <a:spcAft>
                <a:spcPts val="900"/>
              </a:spcAft>
              <a:defRPr sz="2100" b="1">
                <a:solidFill>
                  <a:srgbClr val="007C78"/>
                </a:solidFill>
                <a:latin typeface="DejaVu Sans"/>
              </a:defRPr>
            </a:pPr>
            <a:r>
              <a:t>Read the research</a:t>
            </a:r>
          </a:p>
        </p:txBody>
      </p:sp>
      <p:sp>
        <p:nvSpPr>
          <p:cNvPr id="17" name="TextBox 16"/>
          <p:cNvSpPr txBox="1"/>
          <p:nvPr/>
        </p:nvSpPr>
        <p:spPr>
          <a:xfrm>
            <a:off x="8263128" y="3264408"/>
            <a:ext cx="3130296" cy="1920239"/>
          </a:xfrm>
          <a:prstGeom prst="rect">
            <a:avLst/>
          </a:prstGeom>
          <a:noFill/>
        </p:spPr>
        <p:txBody>
          <a:bodyPr wrap="square" lIns="18288" rIns="18288" tIns="0" bIns="0">
            <a:spAutoFit/>
          </a:bodyPr>
          <a:lstStyle/>
          <a:p>
            <a:pPr>
              <a:spcAft>
                <a:spcPts val="900"/>
              </a:spcAft>
              <a:defRPr sz="1600" b="0">
                <a:solidFill>
                  <a:srgbClr val="132C38"/>
                </a:solidFill>
                <a:latin typeface="DejaVu Sans"/>
              </a:defRPr>
            </a:pPr>
            <a:r>
              <a:t>docs/research/research-record.md</a:t>
            </a:r>
          </a:p>
          <a:p>
            <a:pPr>
              <a:spcAft>
                <a:spcPts val="900"/>
              </a:spcAft>
              <a:defRPr sz="1600" b="0">
                <a:solidFill>
                  <a:srgbClr val="132C38"/>
                </a:solidFill>
                <a:latin typeface="DejaVu Sans"/>
              </a:defRPr>
            </a:pPr>
            <a:r>
              <a:t>Pinned paper/source links</a:t>
            </a:r>
          </a:p>
          <a:p>
            <a:pPr>
              <a:spcAft>
                <a:spcPts val="900"/>
              </a:spcAft>
              <a:defRPr sz="1600" b="0">
                <a:solidFill>
                  <a:srgbClr val="132C38"/>
                </a:solidFill>
                <a:latin typeface="DejaVu Sans"/>
              </a:defRPr>
            </a:pPr>
            <a:r>
              <a:t>Exact council decision and its evidence limits</a:t>
            </a:r>
          </a:p>
        </p:txBody>
      </p:sp>
      <p:sp>
        <p:nvSpPr>
          <p:cNvPr id="18" name="Rectangle 17"/>
          <p:cNvSpPr/>
          <p:nvPr/>
        </p:nvSpPr>
        <p:spPr>
          <a:xfrm>
            <a:off x="594360" y="5806440"/>
            <a:ext cx="11000232" cy="512064"/>
          </a:xfrm>
          <a:prstGeom prst="rect">
            <a:avLst/>
          </a:prstGeom>
          <a:solidFill>
            <a:srgbClr val="E0E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97880"/>
            <a:ext cx="10735056" cy="365760"/>
          </a:xfrm>
          <a:prstGeom prst="rect">
            <a:avLst/>
          </a:prstGeom>
          <a:noFill/>
        </p:spPr>
        <p:txBody>
          <a:bodyPr wrap="square" lIns="18288" rIns="18288" tIns="0" bIns="0">
            <a:spAutoFit/>
          </a:bodyPr>
          <a:lstStyle/>
          <a:p>
            <a:pPr>
              <a:spcAft>
                <a:spcPts val="900"/>
              </a:spcAft>
              <a:defRPr sz="1250" b="0">
                <a:solidFill>
                  <a:srgbClr val="132C38"/>
                </a:solidFill>
                <a:latin typeface="DejaVu Sans"/>
              </a:defRPr>
            </a:pPr>
            <a:r>
              <a:t>github.com/buffbeefalo/netmambaplus-reproduction</a:t>
            </a:r>
          </a:p>
        </p:txBody>
      </p:sp>
      <p:sp>
        <p:nvSpPr>
          <p:cNvPr id="20" name="TextBox 19"/>
          <p:cNvSpPr txBox="1"/>
          <p:nvPr/>
        </p:nvSpPr>
        <p:spPr>
          <a:xfrm>
            <a:off x="594360" y="6519672"/>
            <a:ext cx="10424160" cy="182880"/>
          </a:xfrm>
          <a:prstGeom prst="rect">
            <a:avLst/>
          </a:prstGeom>
          <a:noFill/>
        </p:spPr>
        <p:txBody>
          <a:bodyPr wrap="square" lIns="18288" rIns="18288" tIns="0" bIns="0">
            <a:spAutoFit/>
          </a:bodyPr>
          <a:lstStyle/>
          <a:p>
            <a:pPr>
              <a:spcAft>
                <a:spcPts val="900"/>
              </a:spcAft>
              <a:defRPr sz="900" b="0">
                <a:solidFill>
                  <a:srgbClr val="516774"/>
                </a:solidFill>
                <a:latin typeface="DejaVu Sans"/>
              </a:defRPr>
            </a:pPr>
            <a:r>
              <a:rPr>
                <a:hlinkClick r:id="rId3"/>
              </a:rPr>
              <a:t>NETMAMBA+  /  MEASURED RESEARCH  /  15 September 2026</a:t>
            </a:r>
          </a:p>
        </p:txBody>
      </p:sp>
      <p:sp>
        <p:nvSpPr>
          <p:cNvPr id="21" name="TextBox 20"/>
          <p:cNvSpPr txBox="1"/>
          <p:nvPr/>
        </p:nvSpPr>
        <p:spPr>
          <a:xfrm>
            <a:off x="11155680" y="6473952"/>
            <a:ext cx="457200" cy="228600"/>
          </a:xfrm>
          <a:prstGeom prst="rect">
            <a:avLst/>
          </a:prstGeom>
          <a:noFill/>
        </p:spPr>
        <p:txBody>
          <a:bodyPr wrap="square" lIns="18288" rIns="18288" tIns="0" bIns="0">
            <a:spAutoFit/>
          </a:bodyPr>
          <a:lstStyle/>
          <a:p>
            <a:pPr>
              <a:spcAft>
                <a:spcPts val="900"/>
              </a:spcAft>
              <a:defRPr sz="1100" b="0">
                <a:solidFill>
                  <a:srgbClr val="516774"/>
                </a:solidFill>
                <a:latin typeface="DejaVu Sans"/>
              </a:defRPr>
            </a:pPr>
            <a: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NetMamba+ — from source to a measured demo</dc:title>
  <dc:subject>Measured research, customer explanation and deployment boundaries</dc:subject>
  <dc:creator>NetMamba+ reproduction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