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Previously these CSVs were only profiled. The original reproduction trained on a separate CICIoT2022 flow release. This addition gives both uploaded CSVs a real role: their stored bytes and supplied binary labels train the original NetMamba+ encoder through a new packet adapter. It does not retroactively change the original experiment or paper result.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flow as a conversation and a packet as one fragment of a message. The paper combines byte content with size and timing sequences. The CSV exports preserve bytes but do not provide the verified joins needed to rebuild those conversations. CICIDS2017 and CICIoT2022 are different datasets. The uploaded PDF explains the architecture; it does not establish that these particular CSV exports were its original training files.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1,500 stored slots are retained, including zeros, because the export does not reliably identify padding. TTL, total length, protocol, time delta, source identity and label never enter the native forward call. The native classifier has 378 sequence positions and 1,852,416 parameters. Its original six-class flow head is replaced by a fresh bias-free two-class head. Labels enter only the supervised loss. Softmax scores are uncalibrated, not a probability guarantee of operational danger.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receives 64,000 sampled group presentations, with replacement. A joint model receives 32,000 presentations from each source. This is a fixed-budget experiment, not an epoch over all 1.49 million rows. NetMamba+ learns its position embeddings; pretrained positional weights are part of the transfer treatment. Scratch uses a freshly initialized native 443-position table with the same remap. The comparison has one seed and does not establish a statistically robust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Balanced accuracy averages benign recall and attack recall. Group weighting prevents repeated identical bytes from dominating the result. Each model is evaluated on both source test partitions. For a single-source model, the opposite-source column is transfer without supervised fitting or validation selection on that source. The joint model has trained on both sources. The UNSW-only metadata control scored 99.34% on UNSW, outperforming the native models there. All scores are specific to these exports, splits, caps and fixed budget; see the report for row weighting, macro-F1, AUROC, average precision, false positives and subtype support.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Equal payload bytes do not prove these are the same physical packet or capture. Exact hashing prevents exact-input leakage, but not near duplicates or related captures. Selected CIC test support includes zero PortScan rows and only four DDoS rows, so this study cannot establish coverage for those attacks. Row-weighted results describe represented CSV rows; group-weighted results describe distinct stored inputs. Majority, byte-histogram and metadata-only linear models are diagnostic controls, not replacements for the native-model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strict predictor accepts the 1,500 payload columns alone, or those plus the four metadata columns; it rejects a label column. It validates the full file, even when an explicit row cap limits prediction. No-label inference is an actual model call, not replay. All 25,930 predicted classes agreed with the saved joint-model evaluation. Matched FP32 replay still had raw-score differences up to 0.000004411; two CIC rows failed the recorded rtol=1e-4, atol=1e-6 comparison. Those failures remain visible, so no bit-exact numerical claim is made. The public saved records allow CPU arithmetic checks without private raw CSVs. Native GPU execution was measured on GB10; other physical GPUs, NPUs and SmartNICs are not validated by these results.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simple IDS prototype could feed already-formatted unlabeled packet rows into the saved joint checkpoint and log predictions for analyst review. It currently does not capture, block or inspect live traffic. An eventual SmartNIC pipeline would need packet extraction, batching and a supported numerical implementation of the Mamba scan, followed by end-to-end accuracy, throughput and latency tests. The council was consulted but ended ESCALATED and UNRATIFIED; primary-source and runtime checks resolved implementation issues directly. Do not call that consensus or claim the paper’s 97.50 percent result was reproduced.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35"/>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a:spAutoFit/>
          </a:bodyPr>
          <a:lstStyle/>
          <a:p>
            <a:pPr>
              <a:defRPr sz="1100" b="1">
                <a:solidFill>
                  <a:srgbClr val="63A9FF"/>
                </a:solidFill>
                <a:latin typeface="DejaVu Sans"/>
              </a:defRPr>
            </a:pPr>
            <a:r>
              <a:t>NETMAMBA+  /  PACKET STUDY</a:t>
            </a:r>
          </a:p>
        </p:txBody>
      </p:sp>
      <p:sp>
        <p:nvSpPr>
          <p:cNvPr id="3" name="TextBox 2"/>
          <p:cNvSpPr txBox="1"/>
          <p:nvPr/>
        </p:nvSpPr>
        <p:spPr>
          <a:xfrm>
            <a:off x="548640" y="868680"/>
            <a:ext cx="10972800" cy="640080"/>
          </a:xfrm>
          <a:prstGeom prst="rect">
            <a:avLst/>
          </a:prstGeom>
          <a:noFill/>
        </p:spPr>
        <p:txBody>
          <a:bodyPr wrap="square" lIns="0" rIns="0">
            <a:spAutoFit/>
          </a:bodyPr>
          <a:lstStyle/>
          <a:p>
            <a:pPr>
              <a:defRPr sz="2900" b="1">
                <a:solidFill>
                  <a:srgbClr val="FFFFFF"/>
                </a:solidFill>
                <a:latin typeface="DejaVu Sans"/>
              </a:defRPr>
            </a:pPr>
            <a:r>
              <a:t>Both CSVs now train NetMamba+</a:t>
            </a:r>
          </a:p>
        </p:txBody>
      </p:sp>
      <p:sp>
        <p:nvSpPr>
          <p:cNvPr id="4" name="TextBox 3"/>
          <p:cNvSpPr txBox="1"/>
          <p:nvPr/>
        </p:nvSpPr>
        <p:spPr>
          <a:xfrm>
            <a:off x="548640" y="1600200"/>
            <a:ext cx="10972800" cy="548640"/>
          </a:xfrm>
          <a:prstGeom prst="rect">
            <a:avLst/>
          </a:prstGeom>
          <a:noFill/>
        </p:spPr>
        <p:txBody>
          <a:bodyPr wrap="square" lIns="0" rIns="0">
            <a:spAutoFit/>
          </a:bodyPr>
          <a:lstStyle/>
          <a:p>
            <a:pPr>
              <a:defRPr sz="1500" b="0">
                <a:solidFill>
                  <a:srgbClr val="B9C8DE"/>
                </a:solidFill>
                <a:latin typeface="DejaVu Sans"/>
              </a:defRPr>
            </a:pPr>
            <a:r>
              <a:t>Packet study · addition to the preserved flow reproduction</a:t>
            </a:r>
          </a:p>
        </p:txBody>
      </p:sp>
      <p:sp>
        <p:nvSpPr>
          <p:cNvPr id="5" name="TextBox 4"/>
          <p:cNvSpPr txBox="1"/>
          <p:nvPr/>
        </p:nvSpPr>
        <p:spPr>
          <a:xfrm>
            <a:off x="594360" y="2423160"/>
            <a:ext cx="10972800" cy="731520"/>
          </a:xfrm>
          <a:prstGeom prst="rect">
            <a:avLst/>
          </a:prstGeom>
          <a:noFill/>
        </p:spPr>
        <p:txBody>
          <a:bodyPr wrap="square" lIns="0" rIns="0">
            <a:spAutoFit/>
          </a:bodyPr>
          <a:lstStyle/>
          <a:p>
            <a:pPr>
              <a:defRPr sz="1900" b="0">
                <a:solidFill>
                  <a:srgbClr val="FFFFFF"/>
                </a:solidFill>
                <a:latin typeface="DejaVu Sans"/>
              </a:defRPr>
            </a:pPr>
            <a:r>
              <a:t>1,490,136 rows validated across CICIDS2017 and UNSW CSV exports.</a:t>
            </a:r>
          </a:p>
        </p:txBody>
      </p:sp>
      <p:sp>
        <p:nvSpPr>
          <p:cNvPr id="6" name="TextBox 5"/>
          <p:cNvSpPr txBox="1"/>
          <p:nvPr/>
        </p:nvSpPr>
        <p:spPr>
          <a:xfrm>
            <a:off x="594360" y="2880360"/>
            <a:ext cx="10972800" cy="731520"/>
          </a:xfrm>
          <a:prstGeom prst="rect">
            <a:avLst/>
          </a:prstGeom>
          <a:noFill/>
        </p:spPr>
        <p:txBody>
          <a:bodyPr wrap="square" lIns="0" rIns="0">
            <a:spAutoFit/>
          </a:bodyPr>
          <a:lstStyle/>
          <a:p>
            <a:pPr>
              <a:defRPr sz="1900" b="0">
                <a:solidFill>
                  <a:srgbClr val="FFFFFF"/>
                </a:solidFill>
                <a:latin typeface="DejaVu Sans"/>
              </a:defRPr>
            </a:pPr>
            <a:r>
              <a:t>Six native GPU training runs: 1,000 supervised updates each.</a:t>
            </a:r>
          </a:p>
        </p:txBody>
      </p:sp>
      <p:sp>
        <p:nvSpPr>
          <p:cNvPr id="7" name="TextBox 6"/>
          <p:cNvSpPr txBox="1"/>
          <p:nvPr/>
        </p:nvSpPr>
        <p:spPr>
          <a:xfrm>
            <a:off x="594360" y="3337560"/>
            <a:ext cx="10972800" cy="731520"/>
          </a:xfrm>
          <a:prstGeom prst="rect">
            <a:avLst/>
          </a:prstGeom>
          <a:noFill/>
        </p:spPr>
        <p:txBody>
          <a:bodyPr wrap="square" lIns="0" rIns="0">
            <a:spAutoFit/>
          </a:bodyPr>
          <a:lstStyle/>
          <a:p>
            <a:pPr>
              <a:defRPr sz="1900" b="0">
                <a:solidFill>
                  <a:srgbClr val="FFFFFF"/>
                </a:solidFill>
                <a:latin typeface="DejaVu Sans"/>
              </a:defRPr>
            </a:pPr>
            <a:r>
              <a:t>A joint model learns from both sources; saved checkpoints support unlabeled</a:t>
            </a:r>
          </a:p>
          <a:p>
            <a:pPr>
              <a:defRPr sz="1900" b="0">
                <a:solidFill>
                  <a:srgbClr val="FFFFFF"/>
                </a:solidFill>
                <a:latin typeface="DejaVu Sans"/>
              </a:defRPr>
            </a:pPr>
            <a:r>
              <a:t>inference.</a:t>
            </a:r>
          </a:p>
        </p:txBody>
      </p:sp>
      <p:sp>
        <p:nvSpPr>
          <p:cNvPr id="8" name="TextBox 7"/>
          <p:cNvSpPr txBox="1"/>
          <p:nvPr/>
        </p:nvSpPr>
        <p:spPr>
          <a:xfrm>
            <a:off x="548640" y="6419088"/>
            <a:ext cx="10972800" cy="274320"/>
          </a:xfrm>
          <a:prstGeom prst="rect">
            <a:avLst/>
          </a:prstGeom>
          <a:noFill/>
        </p:spPr>
        <p:txBody>
          <a:bodyPr wrap="square" lIns="0" rIns="0">
            <a:spAutoFit/>
          </a:bodyPr>
          <a:lstStyle/>
          <a:p>
            <a:pPr>
              <a:defRPr sz="1000" b="0">
                <a:solidFill>
                  <a:srgbClr val="B9C8DE"/>
                </a:solidFill>
                <a:latin typeface="DejaVu Sans"/>
              </a:defRPr>
            </a:pPr>
            <a:r>
              <a:t>Packet adaptation · GB10 evidence · original flow results unchanged                                      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35"/>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a:spAutoFit/>
          </a:bodyPr>
          <a:lstStyle/>
          <a:p>
            <a:pPr>
              <a:defRPr sz="1100" b="1">
                <a:solidFill>
                  <a:srgbClr val="63A9FF"/>
                </a:solidFill>
                <a:latin typeface="DejaVu Sans"/>
              </a:defRPr>
            </a:pPr>
            <a:r>
              <a:t>NETMAMBA+  /  PACKET STUDY</a:t>
            </a:r>
          </a:p>
        </p:txBody>
      </p:sp>
      <p:sp>
        <p:nvSpPr>
          <p:cNvPr id="3" name="TextBox 2"/>
          <p:cNvSpPr txBox="1"/>
          <p:nvPr/>
        </p:nvSpPr>
        <p:spPr>
          <a:xfrm>
            <a:off x="548640" y="868680"/>
            <a:ext cx="10972800" cy="640080"/>
          </a:xfrm>
          <a:prstGeom prst="rect">
            <a:avLst/>
          </a:prstGeom>
          <a:noFill/>
        </p:spPr>
        <p:txBody>
          <a:bodyPr wrap="square" lIns="0" rIns="0">
            <a:spAutoFit/>
          </a:bodyPr>
          <a:lstStyle/>
          <a:p>
            <a:pPr>
              <a:defRPr sz="2900" b="1">
                <a:solidFill>
                  <a:srgbClr val="FFFFFF"/>
                </a:solidFill>
                <a:latin typeface="DejaVu Sans"/>
              </a:defRPr>
            </a:pPr>
            <a:r>
              <a:t>A packet is one message fragment</a:t>
            </a:r>
          </a:p>
        </p:txBody>
      </p:sp>
      <p:sp>
        <p:nvSpPr>
          <p:cNvPr id="4" name="TextBox 3"/>
          <p:cNvSpPr txBox="1"/>
          <p:nvPr/>
        </p:nvSpPr>
        <p:spPr>
          <a:xfrm>
            <a:off x="548640" y="1600200"/>
            <a:ext cx="10972800" cy="548640"/>
          </a:xfrm>
          <a:prstGeom prst="rect">
            <a:avLst/>
          </a:prstGeom>
          <a:noFill/>
        </p:spPr>
        <p:txBody>
          <a:bodyPr wrap="square" lIns="0" rIns="0">
            <a:spAutoFit/>
          </a:bodyPr>
          <a:lstStyle/>
          <a:p>
            <a:pPr>
              <a:defRPr sz="1500" b="0">
                <a:solidFill>
                  <a:srgbClr val="B9C8DE"/>
                </a:solidFill>
                <a:latin typeface="DejaVu Sans"/>
              </a:defRPr>
            </a:pPr>
            <a:r>
              <a:t>The paper model originally consumed a sequence from a connection</a:t>
            </a:r>
          </a:p>
        </p:txBody>
      </p:sp>
      <p:sp>
        <p:nvSpPr>
          <p:cNvPr id="5" name="TextBox 4"/>
          <p:cNvSpPr txBox="1"/>
          <p:nvPr/>
        </p:nvSpPr>
        <p:spPr>
          <a:xfrm>
            <a:off x="594360" y="2423160"/>
            <a:ext cx="10972800" cy="731520"/>
          </a:xfrm>
          <a:prstGeom prst="rect">
            <a:avLst/>
          </a:prstGeom>
          <a:noFill/>
        </p:spPr>
        <p:txBody>
          <a:bodyPr wrap="square" lIns="0" rIns="0">
            <a:spAutoFit/>
          </a:bodyPr>
          <a:lstStyle/>
          <a:p>
            <a:pPr>
              <a:defRPr sz="1900" b="0">
                <a:solidFill>
                  <a:srgbClr val="FFFFFF"/>
                </a:solidFill>
                <a:latin typeface="DejaVu Sans"/>
              </a:defRPr>
            </a:pPr>
            <a:r>
              <a:t>Original route: five packet byte segments, twenty sizes and twenty intervals.</a:t>
            </a:r>
          </a:p>
        </p:txBody>
      </p:sp>
      <p:sp>
        <p:nvSpPr>
          <p:cNvPr id="6" name="TextBox 5"/>
          <p:cNvSpPr txBox="1"/>
          <p:nvPr/>
        </p:nvSpPr>
        <p:spPr>
          <a:xfrm>
            <a:off x="594360" y="2880360"/>
            <a:ext cx="10972800" cy="731520"/>
          </a:xfrm>
          <a:prstGeom prst="rect">
            <a:avLst/>
          </a:prstGeom>
          <a:noFill/>
        </p:spPr>
        <p:txBody>
          <a:bodyPr wrap="square" lIns="0" rIns="0">
            <a:spAutoFit/>
          </a:bodyPr>
          <a:lstStyle/>
          <a:p>
            <a:pPr>
              <a:defRPr sz="1900" b="0">
                <a:solidFill>
                  <a:srgbClr val="FFFFFF"/>
                </a:solidFill>
                <a:latin typeface="DejaVu Sans"/>
              </a:defRPr>
            </a:pPr>
            <a:r>
              <a:t>CSV route: one row with 1,500 byte slots, four metadata values and a label.</a:t>
            </a:r>
          </a:p>
        </p:txBody>
      </p:sp>
      <p:sp>
        <p:nvSpPr>
          <p:cNvPr id="7" name="TextBox 6"/>
          <p:cNvSpPr txBox="1"/>
          <p:nvPr/>
        </p:nvSpPr>
        <p:spPr>
          <a:xfrm>
            <a:off x="594360" y="3337560"/>
            <a:ext cx="10972800" cy="731520"/>
          </a:xfrm>
          <a:prstGeom prst="rect">
            <a:avLst/>
          </a:prstGeom>
          <a:noFill/>
        </p:spPr>
        <p:txBody>
          <a:bodyPr wrap="square" lIns="0" rIns="0">
            <a:spAutoFit/>
          </a:bodyPr>
          <a:lstStyle/>
          <a:p>
            <a:pPr>
              <a:defRPr sz="1900" b="0">
                <a:solidFill>
                  <a:srgbClr val="FFFFFF"/>
                </a:solidFill>
                <a:latin typeface="DejaVu Sans"/>
              </a:defRPr>
            </a:pPr>
            <a:r>
              <a:t>Connection identity and reliable sequence order are missing from these exports.</a:t>
            </a:r>
          </a:p>
        </p:txBody>
      </p:sp>
      <p:sp>
        <p:nvSpPr>
          <p:cNvPr id="8" name="TextBox 7"/>
          <p:cNvSpPr txBox="1"/>
          <p:nvPr/>
        </p:nvSpPr>
        <p:spPr>
          <a:xfrm>
            <a:off x="594360" y="3794760"/>
            <a:ext cx="10972800" cy="731520"/>
          </a:xfrm>
          <a:prstGeom prst="rect">
            <a:avLst/>
          </a:prstGeom>
          <a:noFill/>
        </p:spPr>
        <p:txBody>
          <a:bodyPr wrap="square" lIns="0" rIns="0">
            <a:spAutoFit/>
          </a:bodyPr>
          <a:lstStyle/>
          <a:p>
            <a:pPr>
              <a:defRPr sz="1900" b="0">
                <a:solidFill>
                  <a:srgbClr val="FFFFFF"/>
                </a:solidFill>
                <a:latin typeface="DejaVu Sans"/>
              </a:defRPr>
            </a:pPr>
            <a:r>
              <a:t>We retain packet inputs; adjacent rows are never invented into flows.</a:t>
            </a:r>
          </a:p>
        </p:txBody>
      </p:sp>
      <p:sp>
        <p:nvSpPr>
          <p:cNvPr id="9" name="TextBox 8"/>
          <p:cNvSpPr txBox="1"/>
          <p:nvPr/>
        </p:nvSpPr>
        <p:spPr>
          <a:xfrm>
            <a:off x="548640" y="6419088"/>
            <a:ext cx="10972800" cy="274320"/>
          </a:xfrm>
          <a:prstGeom prst="rect">
            <a:avLst/>
          </a:prstGeom>
          <a:noFill/>
        </p:spPr>
        <p:txBody>
          <a:bodyPr wrap="square" lIns="0" rIns="0">
            <a:spAutoFit/>
          </a:bodyPr>
          <a:lstStyle/>
          <a:p>
            <a:pPr>
              <a:defRPr sz="1000" b="0">
                <a:solidFill>
                  <a:srgbClr val="B9C8DE"/>
                </a:solidFill>
                <a:latin typeface="DejaVu Sans"/>
              </a:defRPr>
            </a:pPr>
            <a:r>
              <a:t>Packet adaptation · GB10 evidence · original flow results unchanged                                      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35"/>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a:spAutoFit/>
          </a:bodyPr>
          <a:lstStyle/>
          <a:p>
            <a:pPr>
              <a:defRPr sz="1100" b="1">
                <a:solidFill>
                  <a:srgbClr val="63A9FF"/>
                </a:solidFill>
                <a:latin typeface="DejaVu Sans"/>
              </a:defRPr>
            </a:pPr>
            <a:r>
              <a:t>NETMAMBA+  /  PACKET STUDY</a:t>
            </a:r>
          </a:p>
        </p:txBody>
      </p:sp>
      <p:sp>
        <p:nvSpPr>
          <p:cNvPr id="3" name="TextBox 2"/>
          <p:cNvSpPr txBox="1"/>
          <p:nvPr/>
        </p:nvSpPr>
        <p:spPr>
          <a:xfrm>
            <a:off x="548640" y="868680"/>
            <a:ext cx="10972800" cy="640080"/>
          </a:xfrm>
          <a:prstGeom prst="rect">
            <a:avLst/>
          </a:prstGeom>
          <a:noFill/>
        </p:spPr>
        <p:txBody>
          <a:bodyPr wrap="square" lIns="0" rIns="0">
            <a:spAutoFit/>
          </a:bodyPr>
          <a:lstStyle/>
          <a:p>
            <a:pPr>
              <a:defRPr sz="2900" b="1">
                <a:solidFill>
                  <a:srgbClr val="FFFFFF"/>
                </a:solidFill>
                <a:latin typeface="DejaVu Sans"/>
              </a:defRPr>
            </a:pPr>
            <a:r>
              <a:t>Exactly what goes into the model</a:t>
            </a:r>
          </a:p>
        </p:txBody>
      </p:sp>
      <p:sp>
        <p:nvSpPr>
          <p:cNvPr id="4" name="TextBox 3"/>
          <p:cNvSpPr txBox="1"/>
          <p:nvPr/>
        </p:nvSpPr>
        <p:spPr>
          <a:xfrm>
            <a:off x="548640" y="1600200"/>
            <a:ext cx="10972800" cy="548640"/>
          </a:xfrm>
          <a:prstGeom prst="rect">
            <a:avLst/>
          </a:prstGeom>
          <a:noFill/>
        </p:spPr>
        <p:txBody>
          <a:bodyPr wrap="square" lIns="0" rIns="0">
            <a:spAutoFit/>
          </a:bodyPr>
          <a:lstStyle/>
          <a:p>
            <a:pPr>
              <a:defRPr sz="1500" b="0">
                <a:solidFill>
                  <a:srgbClr val="B9C8DE"/>
                </a:solidFill>
                <a:latin typeface="DejaVu Sans"/>
              </a:defRPr>
            </a:pPr>
            <a:r>
              <a:t>Native four-block Mamba encoder, with an explicit packet input contract</a:t>
            </a:r>
          </a:p>
        </p:txBody>
      </p:sp>
      <p:sp>
        <p:nvSpPr>
          <p:cNvPr id="5" name="TextBox 4"/>
          <p:cNvSpPr txBox="1"/>
          <p:nvPr/>
        </p:nvSpPr>
        <p:spPr>
          <a:xfrm>
            <a:off x="594360" y="2423160"/>
            <a:ext cx="10972800" cy="731520"/>
          </a:xfrm>
          <a:prstGeom prst="rect">
            <a:avLst/>
          </a:prstGeom>
          <a:noFill/>
        </p:spPr>
        <p:txBody>
          <a:bodyPr wrap="square" lIns="0" rIns="0">
            <a:spAutoFit/>
          </a:bodyPr>
          <a:lstStyle/>
          <a:p>
            <a:pPr>
              <a:defRPr sz="1900" b="0">
                <a:solidFill>
                  <a:srgbClr val="FFFFFF"/>
                </a:solidFill>
                <a:latin typeface="DejaVu Sans"/>
              </a:defRPr>
            </a:pPr>
            <a:r>
              <a:t>1,500 integer bytes → float32 values between −1 and +1.</a:t>
            </a:r>
          </a:p>
        </p:txBody>
      </p:sp>
      <p:sp>
        <p:nvSpPr>
          <p:cNvPr id="6" name="TextBox 5"/>
          <p:cNvSpPr txBox="1"/>
          <p:nvPr/>
        </p:nvSpPr>
        <p:spPr>
          <a:xfrm>
            <a:off x="594360" y="2880360"/>
            <a:ext cx="10972800" cy="731520"/>
          </a:xfrm>
          <a:prstGeom prst="rect">
            <a:avLst/>
          </a:prstGeom>
          <a:noFill/>
        </p:spPr>
        <p:txBody>
          <a:bodyPr wrap="square" lIns="0" rIns="0">
            <a:spAutoFit/>
          </a:bodyPr>
          <a:lstStyle/>
          <a:p>
            <a:pPr>
              <a:defRPr sz="1900" b="0">
                <a:solidFill>
                  <a:srgbClr val="FFFFFF"/>
                </a:solidFill>
                <a:latin typeface="DejaVu Sans"/>
              </a:defRPr>
            </a:pPr>
            <a:r>
              <a:t>Four bytes per patch → 375 byte tokens + three summary positions.</a:t>
            </a:r>
          </a:p>
        </p:txBody>
      </p:sp>
      <p:sp>
        <p:nvSpPr>
          <p:cNvPr id="7" name="TextBox 6"/>
          <p:cNvSpPr txBox="1"/>
          <p:nvPr/>
        </p:nvSpPr>
        <p:spPr>
          <a:xfrm>
            <a:off x="594360" y="3337560"/>
            <a:ext cx="10972800" cy="731520"/>
          </a:xfrm>
          <a:prstGeom prst="rect">
            <a:avLst/>
          </a:prstGeom>
          <a:noFill/>
        </p:spPr>
        <p:txBody>
          <a:bodyPr wrap="square" lIns="0" rIns="0">
            <a:spAutoFit/>
          </a:bodyPr>
          <a:lstStyle/>
          <a:p>
            <a:pPr>
              <a:defRPr sz="1900" b="0">
                <a:solidFill>
                  <a:srgbClr val="FFFFFF"/>
                </a:solidFill>
                <a:latin typeface="DejaVu Sans"/>
              </a:defRPr>
            </a:pPr>
            <a:r>
              <a:t>Size and interval inputs are empty; two prefixes contain no observed flow data.</a:t>
            </a:r>
          </a:p>
        </p:txBody>
      </p:sp>
      <p:sp>
        <p:nvSpPr>
          <p:cNvPr id="8" name="TextBox 7"/>
          <p:cNvSpPr txBox="1"/>
          <p:nvPr/>
        </p:nvSpPr>
        <p:spPr>
          <a:xfrm>
            <a:off x="594360" y="3794760"/>
            <a:ext cx="10972800" cy="731520"/>
          </a:xfrm>
          <a:prstGeom prst="rect">
            <a:avLst/>
          </a:prstGeom>
          <a:noFill/>
        </p:spPr>
        <p:txBody>
          <a:bodyPr wrap="square" lIns="0" rIns="0">
            <a:spAutoFit/>
          </a:bodyPr>
          <a:lstStyle/>
          <a:p>
            <a:pPr>
              <a:defRPr sz="1900" b="0">
                <a:solidFill>
                  <a:srgbClr val="FFFFFF"/>
                </a:solidFill>
                <a:latin typeface="DejaVu Sans"/>
              </a:defRPr>
            </a:pPr>
            <a:r>
              <a:t>Native summary pooling → new two-class head → benign / attack logits.</a:t>
            </a:r>
          </a:p>
        </p:txBody>
      </p:sp>
      <p:sp>
        <p:nvSpPr>
          <p:cNvPr id="9" name="TextBox 8"/>
          <p:cNvSpPr txBox="1"/>
          <p:nvPr/>
        </p:nvSpPr>
        <p:spPr>
          <a:xfrm>
            <a:off x="548640" y="6419088"/>
            <a:ext cx="10972800" cy="274320"/>
          </a:xfrm>
          <a:prstGeom prst="rect">
            <a:avLst/>
          </a:prstGeom>
          <a:noFill/>
        </p:spPr>
        <p:txBody>
          <a:bodyPr wrap="square" lIns="0" rIns="0">
            <a:spAutoFit/>
          </a:bodyPr>
          <a:lstStyle/>
          <a:p>
            <a:pPr>
              <a:defRPr sz="1000" b="0">
                <a:solidFill>
                  <a:srgbClr val="B9C8DE"/>
                </a:solidFill>
                <a:latin typeface="DejaVu Sans"/>
              </a:defRPr>
            </a:pPr>
            <a:r>
              <a:t>Packet adaptation · GB10 evidence · original flow results unchanged                                      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D35"/>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a:spAutoFit/>
          </a:bodyPr>
          <a:lstStyle/>
          <a:p>
            <a:pPr>
              <a:defRPr sz="1100" b="1">
                <a:solidFill>
                  <a:srgbClr val="63A9FF"/>
                </a:solidFill>
                <a:latin typeface="DejaVu Sans"/>
              </a:defRPr>
            </a:pPr>
            <a:r>
              <a:t>NETMAMBA+  /  PACKET STUDY</a:t>
            </a:r>
          </a:p>
        </p:txBody>
      </p:sp>
      <p:sp>
        <p:nvSpPr>
          <p:cNvPr id="3" name="TextBox 2"/>
          <p:cNvSpPr txBox="1"/>
          <p:nvPr/>
        </p:nvSpPr>
        <p:spPr>
          <a:xfrm>
            <a:off x="548640" y="868680"/>
            <a:ext cx="10972800" cy="640080"/>
          </a:xfrm>
          <a:prstGeom prst="rect">
            <a:avLst/>
          </a:prstGeom>
          <a:noFill/>
        </p:spPr>
        <p:txBody>
          <a:bodyPr wrap="square" lIns="0" rIns="0">
            <a:spAutoFit/>
          </a:bodyPr>
          <a:lstStyle/>
          <a:p>
            <a:pPr>
              <a:defRPr sz="2900" b="1">
                <a:solidFill>
                  <a:srgbClr val="FFFFFF"/>
                </a:solidFill>
                <a:latin typeface="DejaVu Sans"/>
              </a:defRPr>
            </a:pPr>
            <a:r>
              <a:t>What training actually tests</a:t>
            </a:r>
          </a:p>
        </p:txBody>
      </p:sp>
      <p:sp>
        <p:nvSpPr>
          <p:cNvPr id="4" name="TextBox 3"/>
          <p:cNvSpPr txBox="1"/>
          <p:nvPr/>
        </p:nvSpPr>
        <p:spPr>
          <a:xfrm>
            <a:off x="548640" y="1600200"/>
            <a:ext cx="10972800" cy="548640"/>
          </a:xfrm>
          <a:prstGeom prst="rect">
            <a:avLst/>
          </a:prstGeom>
          <a:noFill/>
        </p:spPr>
        <p:txBody>
          <a:bodyPr wrap="square" lIns="0" rIns="0">
            <a:spAutoFit/>
          </a:bodyPr>
          <a:lstStyle/>
          <a:p>
            <a:pPr>
              <a:defRPr sz="1500" b="0">
                <a:solidFill>
                  <a:srgbClr val="B9C8DE"/>
                </a:solidFill>
                <a:latin typeface="DejaVu Sans"/>
              </a:defRPr>
            </a:pPr>
            <a:r>
              <a:t>CIC-only, UNSW-only and joint training; pretrained and scratch for each</a:t>
            </a:r>
          </a:p>
        </p:txBody>
      </p:sp>
      <p:sp>
        <p:nvSpPr>
          <p:cNvPr id="5" name="TextBox 4"/>
          <p:cNvSpPr txBox="1"/>
          <p:nvPr/>
        </p:nvSpPr>
        <p:spPr>
          <a:xfrm>
            <a:off x="594360" y="2423160"/>
            <a:ext cx="10972800" cy="731520"/>
          </a:xfrm>
          <a:prstGeom prst="rect">
            <a:avLst/>
          </a:prstGeom>
          <a:noFill/>
        </p:spPr>
        <p:txBody>
          <a:bodyPr wrap="square" lIns="0" rIns="0">
            <a:spAutoFit/>
          </a:bodyPr>
          <a:lstStyle/>
          <a:p>
            <a:pPr>
              <a:defRPr sz="1900" b="0">
                <a:solidFill>
                  <a:srgbClr val="FFFFFF"/>
                </a:solidFill>
                <a:latin typeface="DejaVu Sans"/>
              </a:defRPr>
            </a:pPr>
            <a:r>
              <a:t>Batch 64, seed 0, AdamW; same 1,000-update budget and paired batch streams.</a:t>
            </a:r>
          </a:p>
        </p:txBody>
      </p:sp>
      <p:sp>
        <p:nvSpPr>
          <p:cNvPr id="6" name="TextBox 5"/>
          <p:cNvSpPr txBox="1"/>
          <p:nvPr/>
        </p:nvSpPr>
        <p:spPr>
          <a:xfrm>
            <a:off x="594360" y="2880360"/>
            <a:ext cx="10972800" cy="731520"/>
          </a:xfrm>
          <a:prstGeom prst="rect">
            <a:avLst/>
          </a:prstGeom>
          <a:noFill/>
        </p:spPr>
        <p:txBody>
          <a:bodyPr wrap="square" lIns="0" rIns="0">
            <a:spAutoFit/>
          </a:bodyPr>
          <a:lstStyle/>
          <a:p>
            <a:pPr>
              <a:defRPr sz="1900" b="0">
                <a:solidFill>
                  <a:srgbClr val="FFFFFF"/>
                </a:solidFill>
                <a:latin typeface="DejaVu Sans"/>
              </a:defRPr>
            </a:pPr>
            <a:r>
              <a:t>Joint batches contain 32 examples from each dataset.</a:t>
            </a:r>
          </a:p>
        </p:txBody>
      </p:sp>
      <p:sp>
        <p:nvSpPr>
          <p:cNvPr id="7" name="TextBox 6"/>
          <p:cNvSpPr txBox="1"/>
          <p:nvPr/>
        </p:nvSpPr>
        <p:spPr>
          <a:xfrm>
            <a:off x="594360" y="3337560"/>
            <a:ext cx="10972800" cy="731520"/>
          </a:xfrm>
          <a:prstGeom prst="rect">
            <a:avLst/>
          </a:prstGeom>
          <a:noFill/>
        </p:spPr>
        <p:txBody>
          <a:bodyPr wrap="square" lIns="0" rIns="0">
            <a:spAutoFit/>
          </a:bodyPr>
          <a:lstStyle/>
          <a:p>
            <a:pPr>
              <a:defRPr sz="1900" b="0">
                <a:solidFill>
                  <a:srgbClr val="FFFFFF"/>
                </a:solidFill>
                <a:latin typeface="DejaVu Sans"/>
              </a:defRPr>
            </a:pPr>
            <a:r>
              <a:t>Pretrained: 50 trunk states transferred, 31 decoder states excluded.</a:t>
            </a:r>
          </a:p>
        </p:txBody>
      </p:sp>
      <p:sp>
        <p:nvSpPr>
          <p:cNvPr id="8" name="TextBox 7"/>
          <p:cNvSpPr txBox="1"/>
          <p:nvPr/>
        </p:nvSpPr>
        <p:spPr>
          <a:xfrm>
            <a:off x="594360" y="3794760"/>
            <a:ext cx="10972800" cy="731520"/>
          </a:xfrm>
          <a:prstGeom prst="rect">
            <a:avLst/>
          </a:prstGeom>
          <a:noFill/>
        </p:spPr>
        <p:txBody>
          <a:bodyPr wrap="square" lIns="0" rIns="0">
            <a:spAutoFit/>
          </a:bodyPr>
          <a:lstStyle/>
          <a:p>
            <a:pPr>
              <a:defRPr sz="1900" b="0">
                <a:solidFill>
                  <a:srgbClr val="FFFFFF"/>
                </a:solidFill>
                <a:latin typeface="DejaVu Sans"/>
              </a:defRPr>
            </a:pPr>
            <a:r>
              <a:t>Scratch: fresh weights, matching positional coordinates and starting head.</a:t>
            </a:r>
          </a:p>
        </p:txBody>
      </p:sp>
      <p:sp>
        <p:nvSpPr>
          <p:cNvPr id="9" name="TextBox 8"/>
          <p:cNvSpPr txBox="1"/>
          <p:nvPr/>
        </p:nvSpPr>
        <p:spPr>
          <a:xfrm>
            <a:off x="594360" y="4251960"/>
            <a:ext cx="10972800" cy="731520"/>
          </a:xfrm>
          <a:prstGeom prst="rect">
            <a:avLst/>
          </a:prstGeom>
          <a:noFill/>
        </p:spPr>
        <p:txBody>
          <a:bodyPr wrap="square" lIns="0" rIns="0">
            <a:spAutoFit/>
          </a:bodyPr>
          <a:lstStyle/>
          <a:p>
            <a:pPr>
              <a:defRPr sz="1900" b="0">
                <a:solidFill>
                  <a:srgbClr val="FFFFFF"/>
                </a:solidFill>
                <a:latin typeface="DejaVu Sans"/>
              </a:defRPr>
            </a:pPr>
            <a:r>
              <a:t>Validation chooses checkpoints; every selection freezes before test inference.</a:t>
            </a:r>
          </a:p>
        </p:txBody>
      </p:sp>
      <p:sp>
        <p:nvSpPr>
          <p:cNvPr id="10" name="TextBox 9"/>
          <p:cNvSpPr txBox="1"/>
          <p:nvPr/>
        </p:nvSpPr>
        <p:spPr>
          <a:xfrm>
            <a:off x="548640" y="6419088"/>
            <a:ext cx="10972800" cy="274320"/>
          </a:xfrm>
          <a:prstGeom prst="rect">
            <a:avLst/>
          </a:prstGeom>
          <a:noFill/>
        </p:spPr>
        <p:txBody>
          <a:bodyPr wrap="square" lIns="0" rIns="0">
            <a:spAutoFit/>
          </a:bodyPr>
          <a:lstStyle/>
          <a:p>
            <a:pPr>
              <a:defRPr sz="1000" b="0">
                <a:solidFill>
                  <a:srgbClr val="B9C8DE"/>
                </a:solidFill>
                <a:latin typeface="DejaVu Sans"/>
              </a:defRPr>
            </a:pPr>
            <a:r>
              <a:t>Packet adaptation · GB10 evidence · original flow results unchanged                                      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D35"/>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a:spAutoFit/>
          </a:bodyPr>
          <a:lstStyle/>
          <a:p>
            <a:pPr>
              <a:defRPr sz="1100" b="1">
                <a:solidFill>
                  <a:srgbClr val="63A9FF"/>
                </a:solidFill>
                <a:latin typeface="DejaVu Sans"/>
              </a:defRPr>
            </a:pPr>
            <a:r>
              <a:t>NETMAMBA+  /  PACKET STUDY</a:t>
            </a:r>
          </a:p>
        </p:txBody>
      </p:sp>
      <p:sp>
        <p:nvSpPr>
          <p:cNvPr id="3" name="TextBox 2"/>
          <p:cNvSpPr txBox="1"/>
          <p:nvPr/>
        </p:nvSpPr>
        <p:spPr>
          <a:xfrm>
            <a:off x="548640" y="868680"/>
            <a:ext cx="10972800" cy="640080"/>
          </a:xfrm>
          <a:prstGeom prst="rect">
            <a:avLst/>
          </a:prstGeom>
          <a:noFill/>
        </p:spPr>
        <p:txBody>
          <a:bodyPr wrap="square" lIns="0" rIns="0">
            <a:spAutoFit/>
          </a:bodyPr>
          <a:lstStyle/>
          <a:p>
            <a:pPr>
              <a:defRPr sz="2900" b="1">
                <a:solidFill>
                  <a:srgbClr val="FFFFFF"/>
                </a:solidFill>
                <a:latin typeface="DejaVu Sans"/>
              </a:defRPr>
            </a:pPr>
            <a:r>
              <a:t>Measured held-out packet results</a:t>
            </a:r>
          </a:p>
        </p:txBody>
      </p:sp>
      <p:sp>
        <p:nvSpPr>
          <p:cNvPr id="4" name="TextBox 3"/>
          <p:cNvSpPr txBox="1"/>
          <p:nvPr/>
        </p:nvSpPr>
        <p:spPr>
          <a:xfrm>
            <a:off x="548640" y="1600200"/>
            <a:ext cx="10972800" cy="548640"/>
          </a:xfrm>
          <a:prstGeom prst="rect">
            <a:avLst/>
          </a:prstGeom>
          <a:noFill/>
        </p:spPr>
        <p:txBody>
          <a:bodyPr wrap="square" lIns="0" rIns="0">
            <a:spAutoFit/>
          </a:bodyPr>
          <a:lstStyle/>
          <a:p>
            <a:pPr>
              <a:defRPr sz="1500" b="0">
                <a:solidFill>
                  <a:srgbClr val="B9C8DE"/>
                </a:solidFill>
                <a:latin typeface="DejaVu Sans"/>
              </a:defRPr>
            </a:pPr>
            <a:r>
              <a:t>Balanced accuracy · each distinct payload has total weight one</a:t>
            </a:r>
          </a:p>
        </p:txBody>
      </p:sp>
      <p:sp>
        <p:nvSpPr>
          <p:cNvPr id="5" name="TextBox 4"/>
          <p:cNvSpPr txBox="1"/>
          <p:nvPr/>
        </p:nvSpPr>
        <p:spPr>
          <a:xfrm>
            <a:off x="548640" y="2331720"/>
            <a:ext cx="5943600" cy="411480"/>
          </a:xfrm>
          <a:prstGeom prst="rect">
            <a:avLst/>
          </a:prstGeom>
          <a:noFill/>
        </p:spPr>
        <p:txBody>
          <a:bodyPr wrap="square" lIns="0" rIns="0">
            <a:spAutoFit/>
          </a:bodyPr>
          <a:lstStyle/>
          <a:p>
            <a:pPr>
              <a:defRPr sz="1400" b="1">
                <a:solidFill>
                  <a:srgbClr val="63A9FF"/>
                </a:solidFill>
                <a:latin typeface="DejaVu Sans"/>
              </a:defRPr>
            </a:pPr>
            <a:r>
              <a:t>Training / initialization</a:t>
            </a:r>
          </a:p>
        </p:txBody>
      </p:sp>
      <p:sp>
        <p:nvSpPr>
          <p:cNvPr id="6" name="TextBox 5"/>
          <p:cNvSpPr txBox="1"/>
          <p:nvPr/>
        </p:nvSpPr>
        <p:spPr>
          <a:xfrm>
            <a:off x="6858000" y="2331720"/>
            <a:ext cx="1828800" cy="411480"/>
          </a:xfrm>
          <a:prstGeom prst="rect">
            <a:avLst/>
          </a:prstGeom>
          <a:noFill/>
        </p:spPr>
        <p:txBody>
          <a:bodyPr wrap="square" lIns="0" rIns="0">
            <a:spAutoFit/>
          </a:bodyPr>
          <a:lstStyle/>
          <a:p>
            <a:pPr>
              <a:defRPr sz="1400" b="1">
                <a:solidFill>
                  <a:srgbClr val="63A9FF"/>
                </a:solidFill>
                <a:latin typeface="DejaVu Sans"/>
              </a:defRPr>
            </a:pPr>
            <a:r>
              <a:t>CIC test</a:t>
            </a:r>
          </a:p>
        </p:txBody>
      </p:sp>
      <p:sp>
        <p:nvSpPr>
          <p:cNvPr id="7" name="TextBox 6"/>
          <p:cNvSpPr txBox="1"/>
          <p:nvPr/>
        </p:nvSpPr>
        <p:spPr>
          <a:xfrm>
            <a:off x="9144000" y="2331720"/>
            <a:ext cx="1828800" cy="411480"/>
          </a:xfrm>
          <a:prstGeom prst="rect">
            <a:avLst/>
          </a:prstGeom>
          <a:noFill/>
        </p:spPr>
        <p:txBody>
          <a:bodyPr wrap="square" lIns="0" rIns="0">
            <a:spAutoFit/>
          </a:bodyPr>
          <a:lstStyle/>
          <a:p>
            <a:pPr>
              <a:defRPr sz="1400" b="1">
                <a:solidFill>
                  <a:srgbClr val="63A9FF"/>
                </a:solidFill>
                <a:latin typeface="DejaVu Sans"/>
              </a:defRPr>
            </a:pPr>
            <a:r>
              <a:t>UNSW test</a:t>
            </a:r>
          </a:p>
        </p:txBody>
      </p:sp>
      <p:sp>
        <p:nvSpPr>
          <p:cNvPr id="8" name="TextBox 7"/>
          <p:cNvSpPr txBox="1"/>
          <p:nvPr/>
        </p:nvSpPr>
        <p:spPr>
          <a:xfrm>
            <a:off x="548640" y="2752344"/>
            <a:ext cx="5943600" cy="411480"/>
          </a:xfrm>
          <a:prstGeom prst="rect">
            <a:avLst/>
          </a:prstGeom>
          <a:noFill/>
        </p:spPr>
        <p:txBody>
          <a:bodyPr wrap="square" lIns="0" rIns="0">
            <a:spAutoFit/>
          </a:bodyPr>
          <a:lstStyle/>
          <a:p>
            <a:pPr>
              <a:defRPr sz="1600" b="0">
                <a:solidFill>
                  <a:srgbClr val="FFFFFF"/>
                </a:solidFill>
                <a:latin typeface="DejaVu Sans"/>
              </a:defRPr>
            </a:pPr>
            <a:r>
              <a:t>cic / pretrained</a:t>
            </a:r>
          </a:p>
        </p:txBody>
      </p:sp>
      <p:sp>
        <p:nvSpPr>
          <p:cNvPr id="9" name="TextBox 8"/>
          <p:cNvSpPr txBox="1"/>
          <p:nvPr/>
        </p:nvSpPr>
        <p:spPr>
          <a:xfrm>
            <a:off x="6858000" y="2752344"/>
            <a:ext cx="1828800" cy="411480"/>
          </a:xfrm>
          <a:prstGeom prst="rect">
            <a:avLst/>
          </a:prstGeom>
          <a:noFill/>
        </p:spPr>
        <p:txBody>
          <a:bodyPr wrap="square" lIns="0" rIns="0">
            <a:spAutoFit/>
          </a:bodyPr>
          <a:lstStyle/>
          <a:p>
            <a:pPr>
              <a:defRPr sz="1600" b="0">
                <a:solidFill>
                  <a:srgbClr val="FFFFFF"/>
                </a:solidFill>
                <a:latin typeface="DejaVu Sans"/>
              </a:defRPr>
            </a:pPr>
            <a:r>
              <a:t>98.67%</a:t>
            </a:r>
          </a:p>
        </p:txBody>
      </p:sp>
      <p:sp>
        <p:nvSpPr>
          <p:cNvPr id="10" name="TextBox 9"/>
          <p:cNvSpPr txBox="1"/>
          <p:nvPr/>
        </p:nvSpPr>
        <p:spPr>
          <a:xfrm>
            <a:off x="9144000" y="2752344"/>
            <a:ext cx="1828800" cy="411480"/>
          </a:xfrm>
          <a:prstGeom prst="rect">
            <a:avLst/>
          </a:prstGeom>
          <a:noFill/>
        </p:spPr>
        <p:txBody>
          <a:bodyPr wrap="square" lIns="0" rIns="0">
            <a:spAutoFit/>
          </a:bodyPr>
          <a:lstStyle/>
          <a:p>
            <a:pPr>
              <a:defRPr sz="1600" b="0">
                <a:solidFill>
                  <a:srgbClr val="FFFFFF"/>
                </a:solidFill>
                <a:latin typeface="DejaVu Sans"/>
              </a:defRPr>
            </a:pPr>
            <a:r>
              <a:t>53.73%</a:t>
            </a:r>
          </a:p>
        </p:txBody>
      </p:sp>
      <p:sp>
        <p:nvSpPr>
          <p:cNvPr id="11" name="TextBox 10"/>
          <p:cNvSpPr txBox="1"/>
          <p:nvPr/>
        </p:nvSpPr>
        <p:spPr>
          <a:xfrm>
            <a:off x="548640" y="3172968"/>
            <a:ext cx="5943600" cy="411480"/>
          </a:xfrm>
          <a:prstGeom prst="rect">
            <a:avLst/>
          </a:prstGeom>
          <a:noFill/>
        </p:spPr>
        <p:txBody>
          <a:bodyPr wrap="square" lIns="0" rIns="0">
            <a:spAutoFit/>
          </a:bodyPr>
          <a:lstStyle/>
          <a:p>
            <a:pPr>
              <a:defRPr sz="1600" b="0">
                <a:solidFill>
                  <a:srgbClr val="FFFFFF"/>
                </a:solidFill>
                <a:latin typeface="DejaVu Sans"/>
              </a:defRPr>
            </a:pPr>
            <a:r>
              <a:t>cic / scratch</a:t>
            </a:r>
          </a:p>
        </p:txBody>
      </p:sp>
      <p:sp>
        <p:nvSpPr>
          <p:cNvPr id="12" name="TextBox 11"/>
          <p:cNvSpPr txBox="1"/>
          <p:nvPr/>
        </p:nvSpPr>
        <p:spPr>
          <a:xfrm>
            <a:off x="6858000" y="3172968"/>
            <a:ext cx="1828800" cy="411480"/>
          </a:xfrm>
          <a:prstGeom prst="rect">
            <a:avLst/>
          </a:prstGeom>
          <a:noFill/>
        </p:spPr>
        <p:txBody>
          <a:bodyPr wrap="square" lIns="0" rIns="0">
            <a:spAutoFit/>
          </a:bodyPr>
          <a:lstStyle/>
          <a:p>
            <a:pPr>
              <a:defRPr sz="1600" b="0">
                <a:solidFill>
                  <a:srgbClr val="FFFFFF"/>
                </a:solidFill>
                <a:latin typeface="DejaVu Sans"/>
              </a:defRPr>
            </a:pPr>
            <a:r>
              <a:t>50.00%</a:t>
            </a:r>
          </a:p>
        </p:txBody>
      </p:sp>
      <p:sp>
        <p:nvSpPr>
          <p:cNvPr id="13" name="TextBox 12"/>
          <p:cNvSpPr txBox="1"/>
          <p:nvPr/>
        </p:nvSpPr>
        <p:spPr>
          <a:xfrm>
            <a:off x="9144000" y="3172968"/>
            <a:ext cx="1828800" cy="411480"/>
          </a:xfrm>
          <a:prstGeom prst="rect">
            <a:avLst/>
          </a:prstGeom>
          <a:noFill/>
        </p:spPr>
        <p:txBody>
          <a:bodyPr wrap="square" lIns="0" rIns="0">
            <a:spAutoFit/>
          </a:bodyPr>
          <a:lstStyle/>
          <a:p>
            <a:pPr>
              <a:defRPr sz="1600" b="0">
                <a:solidFill>
                  <a:srgbClr val="FFFFFF"/>
                </a:solidFill>
                <a:latin typeface="DejaVu Sans"/>
              </a:defRPr>
            </a:pPr>
            <a:r>
              <a:t>50.00%</a:t>
            </a:r>
          </a:p>
        </p:txBody>
      </p:sp>
      <p:sp>
        <p:nvSpPr>
          <p:cNvPr id="14" name="TextBox 13"/>
          <p:cNvSpPr txBox="1"/>
          <p:nvPr/>
        </p:nvSpPr>
        <p:spPr>
          <a:xfrm>
            <a:off x="548640" y="3593591"/>
            <a:ext cx="5943600" cy="411480"/>
          </a:xfrm>
          <a:prstGeom prst="rect">
            <a:avLst/>
          </a:prstGeom>
          <a:noFill/>
        </p:spPr>
        <p:txBody>
          <a:bodyPr wrap="square" lIns="0" rIns="0">
            <a:spAutoFit/>
          </a:bodyPr>
          <a:lstStyle/>
          <a:p>
            <a:pPr>
              <a:defRPr sz="1600" b="0">
                <a:solidFill>
                  <a:srgbClr val="FFFFFF"/>
                </a:solidFill>
                <a:latin typeface="DejaVu Sans"/>
              </a:defRPr>
            </a:pPr>
            <a:r>
              <a:t>unsw / pretrained</a:t>
            </a:r>
          </a:p>
        </p:txBody>
      </p:sp>
      <p:sp>
        <p:nvSpPr>
          <p:cNvPr id="15" name="TextBox 14"/>
          <p:cNvSpPr txBox="1"/>
          <p:nvPr/>
        </p:nvSpPr>
        <p:spPr>
          <a:xfrm>
            <a:off x="6858000" y="3593591"/>
            <a:ext cx="1828800" cy="411480"/>
          </a:xfrm>
          <a:prstGeom prst="rect">
            <a:avLst/>
          </a:prstGeom>
          <a:noFill/>
        </p:spPr>
        <p:txBody>
          <a:bodyPr wrap="square" lIns="0" rIns="0">
            <a:spAutoFit/>
          </a:bodyPr>
          <a:lstStyle/>
          <a:p>
            <a:pPr>
              <a:defRPr sz="1600" b="0">
                <a:solidFill>
                  <a:srgbClr val="FFFFFF"/>
                </a:solidFill>
                <a:latin typeface="DejaVu Sans"/>
              </a:defRPr>
            </a:pPr>
            <a:r>
              <a:t>71.52%</a:t>
            </a:r>
          </a:p>
        </p:txBody>
      </p:sp>
      <p:sp>
        <p:nvSpPr>
          <p:cNvPr id="16" name="TextBox 15"/>
          <p:cNvSpPr txBox="1"/>
          <p:nvPr/>
        </p:nvSpPr>
        <p:spPr>
          <a:xfrm>
            <a:off x="9144000" y="3593591"/>
            <a:ext cx="1828800" cy="411480"/>
          </a:xfrm>
          <a:prstGeom prst="rect">
            <a:avLst/>
          </a:prstGeom>
          <a:noFill/>
        </p:spPr>
        <p:txBody>
          <a:bodyPr wrap="square" lIns="0" rIns="0">
            <a:spAutoFit/>
          </a:bodyPr>
          <a:lstStyle/>
          <a:p>
            <a:pPr>
              <a:defRPr sz="1600" b="0">
                <a:solidFill>
                  <a:srgbClr val="FFFFFF"/>
                </a:solidFill>
                <a:latin typeface="DejaVu Sans"/>
              </a:defRPr>
            </a:pPr>
            <a:r>
              <a:t>93.22%</a:t>
            </a:r>
          </a:p>
        </p:txBody>
      </p:sp>
      <p:sp>
        <p:nvSpPr>
          <p:cNvPr id="17" name="TextBox 16"/>
          <p:cNvSpPr txBox="1"/>
          <p:nvPr/>
        </p:nvSpPr>
        <p:spPr>
          <a:xfrm>
            <a:off x="548640" y="4014215"/>
            <a:ext cx="5943600" cy="411480"/>
          </a:xfrm>
          <a:prstGeom prst="rect">
            <a:avLst/>
          </a:prstGeom>
          <a:noFill/>
        </p:spPr>
        <p:txBody>
          <a:bodyPr wrap="square" lIns="0" rIns="0">
            <a:spAutoFit/>
          </a:bodyPr>
          <a:lstStyle/>
          <a:p>
            <a:pPr>
              <a:defRPr sz="1600" b="0">
                <a:solidFill>
                  <a:srgbClr val="FFFFFF"/>
                </a:solidFill>
                <a:latin typeface="DejaVu Sans"/>
              </a:defRPr>
            </a:pPr>
            <a:r>
              <a:t>unsw / scratch</a:t>
            </a:r>
          </a:p>
        </p:txBody>
      </p:sp>
      <p:sp>
        <p:nvSpPr>
          <p:cNvPr id="18" name="TextBox 17"/>
          <p:cNvSpPr txBox="1"/>
          <p:nvPr/>
        </p:nvSpPr>
        <p:spPr>
          <a:xfrm>
            <a:off x="6858000" y="4014215"/>
            <a:ext cx="1828800" cy="411480"/>
          </a:xfrm>
          <a:prstGeom prst="rect">
            <a:avLst/>
          </a:prstGeom>
          <a:noFill/>
        </p:spPr>
        <p:txBody>
          <a:bodyPr wrap="square" lIns="0" rIns="0">
            <a:spAutoFit/>
          </a:bodyPr>
          <a:lstStyle/>
          <a:p>
            <a:pPr>
              <a:defRPr sz="1600" b="0">
                <a:solidFill>
                  <a:srgbClr val="FFFFFF"/>
                </a:solidFill>
                <a:latin typeface="DejaVu Sans"/>
              </a:defRPr>
            </a:pPr>
            <a:r>
              <a:t>50.00%</a:t>
            </a:r>
          </a:p>
        </p:txBody>
      </p:sp>
      <p:sp>
        <p:nvSpPr>
          <p:cNvPr id="19" name="TextBox 18"/>
          <p:cNvSpPr txBox="1"/>
          <p:nvPr/>
        </p:nvSpPr>
        <p:spPr>
          <a:xfrm>
            <a:off x="9144000" y="4014215"/>
            <a:ext cx="1828800" cy="411480"/>
          </a:xfrm>
          <a:prstGeom prst="rect">
            <a:avLst/>
          </a:prstGeom>
          <a:noFill/>
        </p:spPr>
        <p:txBody>
          <a:bodyPr wrap="square" lIns="0" rIns="0">
            <a:spAutoFit/>
          </a:bodyPr>
          <a:lstStyle/>
          <a:p>
            <a:pPr>
              <a:defRPr sz="1600" b="0">
                <a:solidFill>
                  <a:srgbClr val="FFFFFF"/>
                </a:solidFill>
                <a:latin typeface="DejaVu Sans"/>
              </a:defRPr>
            </a:pPr>
            <a:r>
              <a:t>50.00%</a:t>
            </a:r>
          </a:p>
        </p:txBody>
      </p:sp>
      <p:sp>
        <p:nvSpPr>
          <p:cNvPr id="20" name="TextBox 19"/>
          <p:cNvSpPr txBox="1"/>
          <p:nvPr/>
        </p:nvSpPr>
        <p:spPr>
          <a:xfrm>
            <a:off x="548640" y="4434840"/>
            <a:ext cx="5943600" cy="411480"/>
          </a:xfrm>
          <a:prstGeom prst="rect">
            <a:avLst/>
          </a:prstGeom>
          <a:noFill/>
        </p:spPr>
        <p:txBody>
          <a:bodyPr wrap="square" lIns="0" rIns="0">
            <a:spAutoFit/>
          </a:bodyPr>
          <a:lstStyle/>
          <a:p>
            <a:pPr>
              <a:defRPr sz="1600" b="0">
                <a:solidFill>
                  <a:srgbClr val="FFFFFF"/>
                </a:solidFill>
                <a:latin typeface="DejaVu Sans"/>
              </a:defRPr>
            </a:pPr>
            <a:r>
              <a:t>joint / pretrained</a:t>
            </a:r>
          </a:p>
        </p:txBody>
      </p:sp>
      <p:sp>
        <p:nvSpPr>
          <p:cNvPr id="21" name="TextBox 20"/>
          <p:cNvSpPr txBox="1"/>
          <p:nvPr/>
        </p:nvSpPr>
        <p:spPr>
          <a:xfrm>
            <a:off x="6858000" y="4434840"/>
            <a:ext cx="1828800" cy="411480"/>
          </a:xfrm>
          <a:prstGeom prst="rect">
            <a:avLst/>
          </a:prstGeom>
          <a:noFill/>
        </p:spPr>
        <p:txBody>
          <a:bodyPr wrap="square" lIns="0" rIns="0">
            <a:spAutoFit/>
          </a:bodyPr>
          <a:lstStyle/>
          <a:p>
            <a:pPr>
              <a:defRPr sz="1600" b="0">
                <a:solidFill>
                  <a:srgbClr val="FFFFFF"/>
                </a:solidFill>
                <a:latin typeface="DejaVu Sans"/>
              </a:defRPr>
            </a:pPr>
            <a:r>
              <a:t>97.56%</a:t>
            </a:r>
          </a:p>
        </p:txBody>
      </p:sp>
      <p:sp>
        <p:nvSpPr>
          <p:cNvPr id="22" name="TextBox 21"/>
          <p:cNvSpPr txBox="1"/>
          <p:nvPr/>
        </p:nvSpPr>
        <p:spPr>
          <a:xfrm>
            <a:off x="9144000" y="4434840"/>
            <a:ext cx="1828800" cy="411480"/>
          </a:xfrm>
          <a:prstGeom prst="rect">
            <a:avLst/>
          </a:prstGeom>
          <a:noFill/>
        </p:spPr>
        <p:txBody>
          <a:bodyPr wrap="square" lIns="0" rIns="0">
            <a:spAutoFit/>
          </a:bodyPr>
          <a:lstStyle/>
          <a:p>
            <a:pPr>
              <a:defRPr sz="1600" b="0">
                <a:solidFill>
                  <a:srgbClr val="FFFFFF"/>
                </a:solidFill>
                <a:latin typeface="DejaVu Sans"/>
              </a:defRPr>
            </a:pPr>
            <a:r>
              <a:t>94.29%</a:t>
            </a:r>
          </a:p>
        </p:txBody>
      </p:sp>
      <p:sp>
        <p:nvSpPr>
          <p:cNvPr id="23" name="TextBox 22"/>
          <p:cNvSpPr txBox="1"/>
          <p:nvPr/>
        </p:nvSpPr>
        <p:spPr>
          <a:xfrm>
            <a:off x="548640" y="4855464"/>
            <a:ext cx="5943600" cy="411480"/>
          </a:xfrm>
          <a:prstGeom prst="rect">
            <a:avLst/>
          </a:prstGeom>
          <a:noFill/>
        </p:spPr>
        <p:txBody>
          <a:bodyPr wrap="square" lIns="0" rIns="0">
            <a:spAutoFit/>
          </a:bodyPr>
          <a:lstStyle/>
          <a:p>
            <a:pPr>
              <a:defRPr sz="1600" b="0">
                <a:solidFill>
                  <a:srgbClr val="FFFFFF"/>
                </a:solidFill>
                <a:latin typeface="DejaVu Sans"/>
              </a:defRPr>
            </a:pPr>
            <a:r>
              <a:t>joint / scratch</a:t>
            </a:r>
          </a:p>
        </p:txBody>
      </p:sp>
      <p:sp>
        <p:nvSpPr>
          <p:cNvPr id="24" name="TextBox 23"/>
          <p:cNvSpPr txBox="1"/>
          <p:nvPr/>
        </p:nvSpPr>
        <p:spPr>
          <a:xfrm>
            <a:off x="6858000" y="4855464"/>
            <a:ext cx="1828800" cy="411480"/>
          </a:xfrm>
          <a:prstGeom prst="rect">
            <a:avLst/>
          </a:prstGeom>
          <a:noFill/>
        </p:spPr>
        <p:txBody>
          <a:bodyPr wrap="square" lIns="0" rIns="0">
            <a:spAutoFit/>
          </a:bodyPr>
          <a:lstStyle/>
          <a:p>
            <a:pPr>
              <a:defRPr sz="1600" b="0">
                <a:solidFill>
                  <a:srgbClr val="FFFFFF"/>
                </a:solidFill>
                <a:latin typeface="DejaVu Sans"/>
              </a:defRPr>
            </a:pPr>
            <a:r>
              <a:t>55.57%</a:t>
            </a:r>
          </a:p>
        </p:txBody>
      </p:sp>
      <p:sp>
        <p:nvSpPr>
          <p:cNvPr id="25" name="TextBox 24"/>
          <p:cNvSpPr txBox="1"/>
          <p:nvPr/>
        </p:nvSpPr>
        <p:spPr>
          <a:xfrm>
            <a:off x="9144000" y="4855464"/>
            <a:ext cx="1828800" cy="411480"/>
          </a:xfrm>
          <a:prstGeom prst="rect">
            <a:avLst/>
          </a:prstGeom>
          <a:noFill/>
        </p:spPr>
        <p:txBody>
          <a:bodyPr wrap="square" lIns="0" rIns="0">
            <a:spAutoFit/>
          </a:bodyPr>
          <a:lstStyle/>
          <a:p>
            <a:pPr>
              <a:defRPr sz="1600" b="0">
                <a:solidFill>
                  <a:srgbClr val="FFFFFF"/>
                </a:solidFill>
                <a:latin typeface="DejaVu Sans"/>
              </a:defRPr>
            </a:pPr>
            <a:r>
              <a:t>50.00%</a:t>
            </a:r>
          </a:p>
        </p:txBody>
      </p:sp>
      <p:sp>
        <p:nvSpPr>
          <p:cNvPr id="26" name="TextBox 25"/>
          <p:cNvSpPr txBox="1"/>
          <p:nvPr/>
        </p:nvSpPr>
        <p:spPr>
          <a:xfrm>
            <a:off x="548640" y="5650992"/>
            <a:ext cx="10972800" cy="457200"/>
          </a:xfrm>
          <a:prstGeom prst="rect">
            <a:avLst/>
          </a:prstGeom>
          <a:noFill/>
        </p:spPr>
        <p:txBody>
          <a:bodyPr wrap="square" lIns="0" rIns="0">
            <a:spAutoFit/>
          </a:bodyPr>
          <a:lstStyle/>
          <a:p>
            <a:pPr>
              <a:defRPr sz="1400" b="0">
                <a:solidFill>
                  <a:srgbClr val="FFD384"/>
                </a:solidFill>
                <a:latin typeface="DejaVu Sans"/>
              </a:defRPr>
            </a:pPr>
            <a:r>
              <a:t>UNSW-only metadata control: 99.34%. Native NetMamba+ is not universally best here.</a:t>
            </a:r>
          </a:p>
        </p:txBody>
      </p:sp>
      <p:sp>
        <p:nvSpPr>
          <p:cNvPr id="27" name="TextBox 26"/>
          <p:cNvSpPr txBox="1"/>
          <p:nvPr/>
        </p:nvSpPr>
        <p:spPr>
          <a:xfrm>
            <a:off x="548640" y="6419088"/>
            <a:ext cx="10972800" cy="274320"/>
          </a:xfrm>
          <a:prstGeom prst="rect">
            <a:avLst/>
          </a:prstGeom>
          <a:noFill/>
        </p:spPr>
        <p:txBody>
          <a:bodyPr wrap="square" lIns="0" rIns="0">
            <a:spAutoFit/>
          </a:bodyPr>
          <a:lstStyle/>
          <a:p>
            <a:pPr>
              <a:defRPr sz="1000" b="0">
                <a:solidFill>
                  <a:srgbClr val="B9C8DE"/>
                </a:solidFill>
                <a:latin typeface="DejaVu Sans"/>
              </a:defRPr>
            </a:pPr>
            <a:r>
              <a:t>Packet adaptation · GB10 evidence · original flow results unchanged                                      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D35"/>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a:spAutoFit/>
          </a:bodyPr>
          <a:lstStyle/>
          <a:p>
            <a:pPr>
              <a:defRPr sz="1100" b="1">
                <a:solidFill>
                  <a:srgbClr val="63A9FF"/>
                </a:solidFill>
                <a:latin typeface="DejaVu Sans"/>
              </a:defRPr>
            </a:pPr>
            <a:r>
              <a:t>NETMAMBA+  /  PACKET STUDY</a:t>
            </a:r>
          </a:p>
        </p:txBody>
      </p:sp>
      <p:sp>
        <p:nvSpPr>
          <p:cNvPr id="3" name="TextBox 2"/>
          <p:cNvSpPr txBox="1"/>
          <p:nvPr/>
        </p:nvSpPr>
        <p:spPr>
          <a:xfrm>
            <a:off x="548640" y="868680"/>
            <a:ext cx="10972800" cy="640080"/>
          </a:xfrm>
          <a:prstGeom prst="rect">
            <a:avLst/>
          </a:prstGeom>
          <a:noFill/>
        </p:spPr>
        <p:txBody>
          <a:bodyPr wrap="square" lIns="0" rIns="0">
            <a:spAutoFit/>
          </a:bodyPr>
          <a:lstStyle/>
          <a:p>
            <a:pPr>
              <a:defRPr sz="2900" b="1">
                <a:solidFill>
                  <a:srgbClr val="FFFFFF"/>
                </a:solidFill>
                <a:latin typeface="DejaVu Sans"/>
              </a:defRPr>
            </a:pPr>
            <a:r>
              <a:t>Why the data checks matter</a:t>
            </a:r>
          </a:p>
        </p:txBody>
      </p:sp>
      <p:sp>
        <p:nvSpPr>
          <p:cNvPr id="4" name="TextBox 3"/>
          <p:cNvSpPr txBox="1"/>
          <p:nvPr/>
        </p:nvSpPr>
        <p:spPr>
          <a:xfrm>
            <a:off x="548640" y="1600200"/>
            <a:ext cx="10972800" cy="548640"/>
          </a:xfrm>
          <a:prstGeom prst="rect">
            <a:avLst/>
          </a:prstGeom>
          <a:noFill/>
        </p:spPr>
        <p:txBody>
          <a:bodyPr wrap="square" lIns="0" rIns="0">
            <a:spAutoFit/>
          </a:bodyPr>
          <a:lstStyle/>
          <a:p>
            <a:pPr>
              <a:defRPr sz="1500" b="0">
                <a:solidFill>
                  <a:srgbClr val="B9C8DE"/>
                </a:solidFill>
                <a:latin typeface="DejaVu Sans"/>
              </a:defRPr>
            </a:pPr>
            <a:r>
              <a:t>Repeated bytes and contradictory labels are retained, not hidden</a:t>
            </a:r>
          </a:p>
        </p:txBody>
      </p:sp>
      <p:sp>
        <p:nvSpPr>
          <p:cNvPr id="5" name="TextBox 4"/>
          <p:cNvSpPr txBox="1"/>
          <p:nvPr/>
        </p:nvSpPr>
        <p:spPr>
          <a:xfrm>
            <a:off x="594360" y="2423160"/>
            <a:ext cx="10972800" cy="731520"/>
          </a:xfrm>
          <a:prstGeom prst="rect">
            <a:avLst/>
          </a:prstGeom>
          <a:noFill/>
        </p:spPr>
        <p:txBody>
          <a:bodyPr wrap="square" lIns="0" rIns="0">
            <a:spAutoFit/>
          </a:bodyPr>
          <a:lstStyle/>
          <a:p>
            <a:pPr>
              <a:defRPr sz="1900" b="0">
                <a:solidFill>
                  <a:srgbClr val="FFFFFF"/>
                </a:solidFill>
                <a:latin typeface="DejaVu Sans"/>
              </a:defRPr>
            </a:pPr>
            <a:r>
              <a:t>478,044 distinct payloads across both full exports.</a:t>
            </a:r>
          </a:p>
        </p:txBody>
      </p:sp>
      <p:sp>
        <p:nvSpPr>
          <p:cNvPr id="6" name="TextBox 5"/>
          <p:cNvSpPr txBox="1"/>
          <p:nvPr/>
        </p:nvSpPr>
        <p:spPr>
          <a:xfrm>
            <a:off x="594360" y="2880360"/>
            <a:ext cx="10972800" cy="731520"/>
          </a:xfrm>
          <a:prstGeom prst="rect">
            <a:avLst/>
          </a:prstGeom>
          <a:noFill/>
        </p:spPr>
        <p:txBody>
          <a:bodyPr wrap="square" lIns="0" rIns="0">
            <a:spAutoFit/>
          </a:bodyPr>
          <a:lstStyle/>
          <a:p>
            <a:pPr>
              <a:defRPr sz="1900" b="0">
                <a:solidFill>
                  <a:srgbClr val="FFFFFF"/>
                </a:solidFill>
                <a:latin typeface="DejaVu Sans"/>
              </a:defRPr>
            </a:pPr>
            <a:r>
              <a:t>Ten payloads appear in both files; nine have conflicting benign/attack labels.</a:t>
            </a:r>
          </a:p>
        </p:txBody>
      </p:sp>
      <p:sp>
        <p:nvSpPr>
          <p:cNvPr id="7" name="TextBox 6"/>
          <p:cNvSpPr txBox="1"/>
          <p:nvPr/>
        </p:nvSpPr>
        <p:spPr>
          <a:xfrm>
            <a:off x="594360" y="3337560"/>
            <a:ext cx="10972800" cy="731520"/>
          </a:xfrm>
          <a:prstGeom prst="rect">
            <a:avLst/>
          </a:prstGeom>
          <a:noFill/>
        </p:spPr>
        <p:txBody>
          <a:bodyPr wrap="square" lIns="0" rIns="0">
            <a:spAutoFit/>
          </a:bodyPr>
          <a:lstStyle/>
          <a:p>
            <a:pPr>
              <a:defRPr sz="1900" b="0">
                <a:solidFill>
                  <a:srgbClr val="FFFFFF"/>
                </a:solidFill>
                <a:latin typeface="DejaVu Sans"/>
              </a:defRPr>
            </a:pPr>
            <a:r>
              <a:t>Identical inputs stay in the same train, validation or test partition globally.</a:t>
            </a:r>
          </a:p>
        </p:txBody>
      </p:sp>
      <p:sp>
        <p:nvSpPr>
          <p:cNvPr id="8" name="TextBox 7"/>
          <p:cNvSpPr txBox="1"/>
          <p:nvPr/>
        </p:nvSpPr>
        <p:spPr>
          <a:xfrm>
            <a:off x="594360" y="3794760"/>
            <a:ext cx="10972800" cy="731520"/>
          </a:xfrm>
          <a:prstGeom prst="rect">
            <a:avLst/>
          </a:prstGeom>
          <a:noFill/>
        </p:spPr>
        <p:txBody>
          <a:bodyPr wrap="square" lIns="0" rIns="0">
            <a:spAutoFit/>
          </a:bodyPr>
          <a:lstStyle/>
          <a:p>
            <a:pPr>
              <a:defRPr sz="1900" b="0">
                <a:solidFill>
                  <a:srgbClr val="FFFFFF"/>
                </a:solidFill>
                <a:latin typeface="DejaVu Sans"/>
              </a:defRPr>
            </a:pPr>
            <a:r>
              <a:t>Contradictory groups contribute their observed label proportions to the loss.</a:t>
            </a:r>
          </a:p>
        </p:txBody>
      </p:sp>
      <p:sp>
        <p:nvSpPr>
          <p:cNvPr id="9" name="TextBox 8"/>
          <p:cNvSpPr txBox="1"/>
          <p:nvPr/>
        </p:nvSpPr>
        <p:spPr>
          <a:xfrm>
            <a:off x="594360" y="4251960"/>
            <a:ext cx="10972800" cy="731520"/>
          </a:xfrm>
          <a:prstGeom prst="rect">
            <a:avLst/>
          </a:prstGeom>
          <a:noFill/>
        </p:spPr>
        <p:txBody>
          <a:bodyPr wrap="square" lIns="0" rIns="0">
            <a:spAutoFit/>
          </a:bodyPr>
          <a:lstStyle/>
          <a:p>
            <a:pPr>
              <a:defRPr sz="1900" b="0">
                <a:solidFill>
                  <a:srgbClr val="FFFFFF"/>
                </a:solidFill>
                <a:latin typeface="DejaVu Sans"/>
              </a:defRPr>
            </a:pPr>
            <a:r>
              <a:t>CIC test cap: 20,000 groups; UNSW test: 5,930 groups.</a:t>
            </a:r>
          </a:p>
        </p:txBody>
      </p:sp>
      <p:sp>
        <p:nvSpPr>
          <p:cNvPr id="10" name="TextBox 9"/>
          <p:cNvSpPr txBox="1"/>
          <p:nvPr/>
        </p:nvSpPr>
        <p:spPr>
          <a:xfrm>
            <a:off x="548640" y="6419088"/>
            <a:ext cx="10972800" cy="274320"/>
          </a:xfrm>
          <a:prstGeom prst="rect">
            <a:avLst/>
          </a:prstGeom>
          <a:noFill/>
        </p:spPr>
        <p:txBody>
          <a:bodyPr wrap="square" lIns="0" rIns="0">
            <a:spAutoFit/>
          </a:bodyPr>
          <a:lstStyle/>
          <a:p>
            <a:pPr>
              <a:defRPr sz="1000" b="0">
                <a:solidFill>
                  <a:srgbClr val="B9C8DE"/>
                </a:solidFill>
                <a:latin typeface="DejaVu Sans"/>
              </a:defRPr>
            </a:pPr>
            <a:r>
              <a:t>Packet adaptation · GB10 evidence · original flow results unchanged                                      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D35"/>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a:spAutoFit/>
          </a:bodyPr>
          <a:lstStyle/>
          <a:p>
            <a:pPr>
              <a:defRPr sz="1100" b="1">
                <a:solidFill>
                  <a:srgbClr val="63A9FF"/>
                </a:solidFill>
                <a:latin typeface="DejaVu Sans"/>
              </a:defRPr>
            </a:pPr>
            <a:r>
              <a:t>NETMAMBA+  /  PACKET STUDY</a:t>
            </a:r>
          </a:p>
        </p:txBody>
      </p:sp>
      <p:sp>
        <p:nvSpPr>
          <p:cNvPr id="3" name="TextBox 2"/>
          <p:cNvSpPr txBox="1"/>
          <p:nvPr/>
        </p:nvSpPr>
        <p:spPr>
          <a:xfrm>
            <a:off x="548640" y="868680"/>
            <a:ext cx="10972800" cy="640080"/>
          </a:xfrm>
          <a:prstGeom prst="rect">
            <a:avLst/>
          </a:prstGeom>
          <a:noFill/>
        </p:spPr>
        <p:txBody>
          <a:bodyPr wrap="square" lIns="0" rIns="0">
            <a:spAutoFit/>
          </a:bodyPr>
          <a:lstStyle/>
          <a:p>
            <a:pPr>
              <a:defRPr sz="2900" b="1">
                <a:solidFill>
                  <a:srgbClr val="FFFFFF"/>
                </a:solidFill>
                <a:latin typeface="DejaVu Sans"/>
              </a:defRPr>
            </a:pPr>
            <a:r>
              <a:t>Use it and check it</a:t>
            </a:r>
          </a:p>
        </p:txBody>
      </p:sp>
      <p:sp>
        <p:nvSpPr>
          <p:cNvPr id="4" name="TextBox 3"/>
          <p:cNvSpPr txBox="1"/>
          <p:nvPr/>
        </p:nvSpPr>
        <p:spPr>
          <a:xfrm>
            <a:off x="548640" y="1600200"/>
            <a:ext cx="10972800" cy="548640"/>
          </a:xfrm>
          <a:prstGeom prst="rect">
            <a:avLst/>
          </a:prstGeom>
          <a:noFill/>
        </p:spPr>
        <p:txBody>
          <a:bodyPr wrap="square" lIns="0" rIns="0">
            <a:spAutoFit/>
          </a:bodyPr>
          <a:lstStyle/>
          <a:p>
            <a:pPr>
              <a:defRPr sz="1500" b="0">
                <a:solidFill>
                  <a:srgbClr val="B9C8DE"/>
                </a:solidFill>
                <a:latin typeface="DejaVu Sans"/>
              </a:defRPr>
            </a:pPr>
            <a:r>
              <a:t>Commands and exact arguments are in packet-study-setup.md</a:t>
            </a:r>
          </a:p>
        </p:txBody>
      </p:sp>
      <p:sp>
        <p:nvSpPr>
          <p:cNvPr id="5" name="TextBox 4"/>
          <p:cNvSpPr txBox="1"/>
          <p:nvPr/>
        </p:nvSpPr>
        <p:spPr>
          <a:xfrm>
            <a:off x="594360" y="2423160"/>
            <a:ext cx="10972800" cy="731520"/>
          </a:xfrm>
          <a:prstGeom prst="rect">
            <a:avLst/>
          </a:prstGeom>
          <a:noFill/>
        </p:spPr>
        <p:txBody>
          <a:bodyPr wrap="square" lIns="0" rIns="0">
            <a:spAutoFit/>
          </a:bodyPr>
          <a:lstStyle/>
          <a:p>
            <a:pPr>
              <a:defRPr sz="1900" b="0">
                <a:solidFill>
                  <a:srgbClr val="FFFFFF"/>
                </a:solidFill>
                <a:latin typeface="DejaVu Sans"/>
              </a:defRPr>
            </a:pPr>
            <a:r>
              <a:t>Prepare both local CSVs with packet_data.py.</a:t>
            </a:r>
          </a:p>
        </p:txBody>
      </p:sp>
      <p:sp>
        <p:nvSpPr>
          <p:cNvPr id="6" name="TextBox 5"/>
          <p:cNvSpPr txBox="1"/>
          <p:nvPr/>
        </p:nvSpPr>
        <p:spPr>
          <a:xfrm>
            <a:off x="594360" y="2880360"/>
            <a:ext cx="10972800" cy="731520"/>
          </a:xfrm>
          <a:prstGeom prst="rect">
            <a:avLst/>
          </a:prstGeom>
          <a:noFill/>
        </p:spPr>
        <p:txBody>
          <a:bodyPr wrap="square" lIns="0" rIns="0">
            <a:spAutoFit/>
          </a:bodyPr>
          <a:lstStyle/>
          <a:p>
            <a:pPr>
              <a:defRPr sz="1900" b="0">
                <a:solidFill>
                  <a:srgbClr val="FFFFFF"/>
                </a:solidFill>
                <a:latin typeface="DejaVu Sans"/>
              </a:defRPr>
            </a:pPr>
            <a:r>
              <a:t>Freeze a fresh local protocol, then run train_packet_model.py.</a:t>
            </a:r>
          </a:p>
        </p:txBody>
      </p:sp>
      <p:sp>
        <p:nvSpPr>
          <p:cNvPr id="7" name="TextBox 6"/>
          <p:cNvSpPr txBox="1"/>
          <p:nvPr/>
        </p:nvSpPr>
        <p:spPr>
          <a:xfrm>
            <a:off x="594360" y="3337560"/>
            <a:ext cx="10972800" cy="731520"/>
          </a:xfrm>
          <a:prstGeom prst="rect">
            <a:avLst/>
          </a:prstGeom>
          <a:noFill/>
        </p:spPr>
        <p:txBody>
          <a:bodyPr wrap="square" lIns="0" rIns="0">
            <a:spAutoFit/>
          </a:bodyPr>
          <a:lstStyle/>
          <a:p>
            <a:pPr>
              <a:defRPr sz="1900" b="0">
                <a:solidFill>
                  <a:srgbClr val="FFFFFF"/>
                </a:solidFill>
                <a:latin typeface="DejaVu Sans"/>
              </a:defRPr>
            </a:pPr>
            <a:r>
              <a:t>Pass an unlabeled payload CSV and packet checkpoint to predict_packets.py.</a:t>
            </a:r>
          </a:p>
        </p:txBody>
      </p:sp>
      <p:sp>
        <p:nvSpPr>
          <p:cNvPr id="8" name="TextBox 7"/>
          <p:cNvSpPr txBox="1"/>
          <p:nvPr/>
        </p:nvSpPr>
        <p:spPr>
          <a:xfrm>
            <a:off x="594360" y="3794760"/>
            <a:ext cx="10972800" cy="731520"/>
          </a:xfrm>
          <a:prstGeom prst="rect">
            <a:avLst/>
          </a:prstGeom>
          <a:noFill/>
        </p:spPr>
        <p:txBody>
          <a:bodyPr wrap="square" lIns="0" rIns="0">
            <a:spAutoFit/>
          </a:bodyPr>
          <a:lstStyle/>
          <a:p>
            <a:pPr>
              <a:defRPr sz="1900" b="0">
                <a:solidFill>
                  <a:srgbClr val="FFFFFF"/>
                </a:solidFill>
                <a:latin typeface="DejaVu Sans"/>
              </a:defRPr>
            </a:pPr>
            <a:r>
              <a:t>Read predictions.jsonl and its fingerprinted completion receipt.</a:t>
            </a:r>
          </a:p>
        </p:txBody>
      </p:sp>
      <p:sp>
        <p:nvSpPr>
          <p:cNvPr id="9" name="TextBox 8"/>
          <p:cNvSpPr txBox="1"/>
          <p:nvPr/>
        </p:nvSpPr>
        <p:spPr>
          <a:xfrm>
            <a:off x="594360" y="4251960"/>
            <a:ext cx="10972800" cy="731520"/>
          </a:xfrm>
          <a:prstGeom prst="rect">
            <a:avLst/>
          </a:prstGeom>
          <a:noFill/>
        </p:spPr>
        <p:txBody>
          <a:bodyPr wrap="square" lIns="0" rIns="0">
            <a:spAutoFit/>
          </a:bodyPr>
          <a:lstStyle/>
          <a:p>
            <a:pPr>
              <a:defRPr sz="1900" b="0">
                <a:solidFill>
                  <a:srgbClr val="FFFFFF"/>
                </a:solidFill>
                <a:latin typeface="DejaVu Sans"/>
              </a:defRPr>
            </a:pPr>
            <a:r>
              <a:t>Run review_packet_study.py to recompute the published evidence offline.</a:t>
            </a:r>
          </a:p>
        </p:txBody>
      </p:sp>
      <p:sp>
        <p:nvSpPr>
          <p:cNvPr id="10" name="TextBox 9"/>
          <p:cNvSpPr txBox="1"/>
          <p:nvPr/>
        </p:nvSpPr>
        <p:spPr>
          <a:xfrm>
            <a:off x="594360" y="4709160"/>
            <a:ext cx="10972800" cy="731520"/>
          </a:xfrm>
          <a:prstGeom prst="rect">
            <a:avLst/>
          </a:prstGeom>
          <a:noFill/>
        </p:spPr>
        <p:txBody>
          <a:bodyPr wrap="square" lIns="0" rIns="0">
            <a:spAutoFit/>
          </a:bodyPr>
          <a:lstStyle/>
          <a:p>
            <a:pPr>
              <a:defRPr sz="1900" b="0">
                <a:solidFill>
                  <a:srgbClr val="FFFFFF"/>
                </a:solidFill>
                <a:latin typeface="DejaVu Sans"/>
              </a:defRPr>
            </a:pPr>
            <a:r>
              <a:t>All 25,930 predicted classes agree; small GPU score differences remain.</a:t>
            </a:r>
          </a:p>
        </p:txBody>
      </p:sp>
      <p:sp>
        <p:nvSpPr>
          <p:cNvPr id="11" name="TextBox 10"/>
          <p:cNvSpPr txBox="1"/>
          <p:nvPr/>
        </p:nvSpPr>
        <p:spPr>
          <a:xfrm>
            <a:off x="548640" y="6419088"/>
            <a:ext cx="10972800" cy="274320"/>
          </a:xfrm>
          <a:prstGeom prst="rect">
            <a:avLst/>
          </a:prstGeom>
          <a:noFill/>
        </p:spPr>
        <p:txBody>
          <a:bodyPr wrap="square" lIns="0" rIns="0">
            <a:spAutoFit/>
          </a:bodyPr>
          <a:lstStyle/>
          <a:p>
            <a:pPr>
              <a:defRPr sz="1000" b="0">
                <a:solidFill>
                  <a:srgbClr val="B9C8DE"/>
                </a:solidFill>
                <a:latin typeface="DejaVu Sans"/>
              </a:defRPr>
            </a:pPr>
            <a:r>
              <a:t>Packet adaptation · GB10 evidence · original flow results unchanged                                      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D35"/>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a:spAutoFit/>
          </a:bodyPr>
          <a:lstStyle/>
          <a:p>
            <a:pPr>
              <a:defRPr sz="1100" b="1">
                <a:solidFill>
                  <a:srgbClr val="63A9FF"/>
                </a:solidFill>
                <a:latin typeface="DejaVu Sans"/>
              </a:defRPr>
            </a:pPr>
            <a:r>
              <a:t>NETMAMBA+  /  PACKET STUDY</a:t>
            </a:r>
          </a:p>
        </p:txBody>
      </p:sp>
      <p:sp>
        <p:nvSpPr>
          <p:cNvPr id="3" name="TextBox 2"/>
          <p:cNvSpPr txBox="1"/>
          <p:nvPr/>
        </p:nvSpPr>
        <p:spPr>
          <a:xfrm>
            <a:off x="548640" y="868680"/>
            <a:ext cx="10972800" cy="640080"/>
          </a:xfrm>
          <a:prstGeom prst="rect">
            <a:avLst/>
          </a:prstGeom>
          <a:noFill/>
        </p:spPr>
        <p:txBody>
          <a:bodyPr wrap="square" lIns="0" rIns="0">
            <a:spAutoFit/>
          </a:bodyPr>
          <a:lstStyle/>
          <a:p>
            <a:pPr>
              <a:defRPr sz="2900" b="1">
                <a:solidFill>
                  <a:srgbClr val="FFFFFF"/>
                </a:solidFill>
                <a:latin typeface="DejaVu Sans"/>
              </a:defRPr>
            </a:pPr>
            <a:r>
              <a:t>What you can defend</a:t>
            </a:r>
          </a:p>
        </p:txBody>
      </p:sp>
      <p:sp>
        <p:nvSpPr>
          <p:cNvPr id="4" name="TextBox 3"/>
          <p:cNvSpPr txBox="1"/>
          <p:nvPr/>
        </p:nvSpPr>
        <p:spPr>
          <a:xfrm>
            <a:off x="548640" y="1600200"/>
            <a:ext cx="10972800" cy="548640"/>
          </a:xfrm>
          <a:prstGeom prst="rect">
            <a:avLst/>
          </a:prstGeom>
          <a:noFill/>
        </p:spPr>
        <p:txBody>
          <a:bodyPr wrap="square" lIns="0" rIns="0">
            <a:spAutoFit/>
          </a:bodyPr>
          <a:lstStyle/>
          <a:p>
            <a:pPr>
              <a:defRPr sz="1500" b="0">
                <a:solidFill>
                  <a:srgbClr val="B9C8DE"/>
                </a:solidFill>
                <a:latin typeface="DejaVu Sans"/>
              </a:defRPr>
            </a:pPr>
            <a:r>
              <a:t>Present the measured addition with its limits</a:t>
            </a:r>
          </a:p>
        </p:txBody>
      </p:sp>
      <p:sp>
        <p:nvSpPr>
          <p:cNvPr id="5" name="TextBox 4"/>
          <p:cNvSpPr txBox="1"/>
          <p:nvPr/>
        </p:nvSpPr>
        <p:spPr>
          <a:xfrm>
            <a:off x="594360" y="2423160"/>
            <a:ext cx="10972800" cy="731520"/>
          </a:xfrm>
          <a:prstGeom prst="rect">
            <a:avLst/>
          </a:prstGeom>
          <a:noFill/>
        </p:spPr>
        <p:txBody>
          <a:bodyPr wrap="square" lIns="0" rIns="0">
            <a:spAutoFit/>
          </a:bodyPr>
          <a:lstStyle/>
          <a:p>
            <a:pPr>
              <a:defRPr sz="1900" b="0">
                <a:solidFill>
                  <a:srgbClr val="FFFFFF"/>
                </a:solidFill>
                <a:latin typeface="DejaVu Sans"/>
              </a:defRPr>
            </a:pPr>
            <a:r>
              <a:t>Both supplied CSVs genuinely train the native NetMamba+ packet adaptation.</a:t>
            </a:r>
          </a:p>
        </p:txBody>
      </p:sp>
      <p:sp>
        <p:nvSpPr>
          <p:cNvPr id="6" name="TextBox 5"/>
          <p:cNvSpPr txBox="1"/>
          <p:nvPr/>
        </p:nvSpPr>
        <p:spPr>
          <a:xfrm>
            <a:off x="594360" y="2880360"/>
            <a:ext cx="10972800" cy="731520"/>
          </a:xfrm>
          <a:prstGeom prst="rect">
            <a:avLst/>
          </a:prstGeom>
          <a:noFill/>
        </p:spPr>
        <p:txBody>
          <a:bodyPr wrap="square" lIns="0" rIns="0">
            <a:spAutoFit/>
          </a:bodyPr>
          <a:lstStyle/>
          <a:p>
            <a:pPr>
              <a:defRPr sz="1900" b="0">
                <a:solidFill>
                  <a:srgbClr val="FFFFFF"/>
                </a:solidFill>
                <a:latin typeface="DejaVu Sans"/>
              </a:defRPr>
            </a:pPr>
            <a:r>
              <a:t>The PDF-guided original flow reproduction remains a separate experiment.</a:t>
            </a:r>
          </a:p>
        </p:txBody>
      </p:sp>
      <p:sp>
        <p:nvSpPr>
          <p:cNvPr id="7" name="TextBox 6"/>
          <p:cNvSpPr txBox="1"/>
          <p:nvPr/>
        </p:nvSpPr>
        <p:spPr>
          <a:xfrm>
            <a:off x="594360" y="3337560"/>
            <a:ext cx="10972800" cy="731520"/>
          </a:xfrm>
          <a:prstGeom prst="rect">
            <a:avLst/>
          </a:prstGeom>
          <a:noFill/>
        </p:spPr>
        <p:txBody>
          <a:bodyPr wrap="square" lIns="0" rIns="0">
            <a:spAutoFit/>
          </a:bodyPr>
          <a:lstStyle/>
          <a:p>
            <a:pPr>
              <a:defRPr sz="1900" b="0">
                <a:solidFill>
                  <a:srgbClr val="FFFFFF"/>
                </a:solidFill>
                <a:latin typeface="DejaVu Sans"/>
              </a:defRPr>
            </a:pPr>
            <a:r>
              <a:t>Missing: live capture pipeline, verified flow joins and customer-network</a:t>
            </a:r>
          </a:p>
          <a:p>
            <a:pPr>
              <a:defRPr sz="1900" b="0">
                <a:solidFill>
                  <a:srgbClr val="FFFFFF"/>
                </a:solidFill>
                <a:latin typeface="DejaVu Sans"/>
              </a:defRPr>
            </a:pPr>
            <a:r>
              <a:t>validation.</a:t>
            </a:r>
          </a:p>
        </p:txBody>
      </p:sp>
      <p:sp>
        <p:nvSpPr>
          <p:cNvPr id="8" name="TextBox 7"/>
          <p:cNvSpPr txBox="1"/>
          <p:nvPr/>
        </p:nvSpPr>
        <p:spPr>
          <a:xfrm>
            <a:off x="594360" y="4105656"/>
            <a:ext cx="10972800" cy="731520"/>
          </a:xfrm>
          <a:prstGeom prst="rect">
            <a:avLst/>
          </a:prstGeom>
          <a:noFill/>
        </p:spPr>
        <p:txBody>
          <a:bodyPr wrap="square" lIns="0" rIns="0">
            <a:spAutoFit/>
          </a:bodyPr>
          <a:lstStyle/>
          <a:p>
            <a:pPr>
              <a:defRPr sz="1900" b="0">
                <a:solidFill>
                  <a:srgbClr val="FFFFFF"/>
                </a:solidFill>
                <a:latin typeface="DejaVu Sans"/>
              </a:defRPr>
            </a:pPr>
            <a:r>
              <a:t>Missing: calibrated packet confidence, NPU export and SmartNIC deployment.</a:t>
            </a:r>
          </a:p>
        </p:txBody>
      </p:sp>
      <p:sp>
        <p:nvSpPr>
          <p:cNvPr id="9" name="TextBox 8"/>
          <p:cNvSpPr txBox="1"/>
          <p:nvPr/>
        </p:nvSpPr>
        <p:spPr>
          <a:xfrm>
            <a:off x="594360" y="4562856"/>
            <a:ext cx="10972800" cy="731520"/>
          </a:xfrm>
          <a:prstGeom prst="rect">
            <a:avLst/>
          </a:prstGeom>
          <a:noFill/>
        </p:spPr>
        <p:txBody>
          <a:bodyPr wrap="square" lIns="0" rIns="0">
            <a:spAutoFit/>
          </a:bodyPr>
          <a:lstStyle/>
          <a:p>
            <a:pPr>
              <a:defRPr sz="1900" b="0">
                <a:solidFill>
                  <a:srgbClr val="FFFFFF"/>
                </a:solidFill>
                <a:latin typeface="DejaVu Sans"/>
              </a:defRPr>
            </a:pPr>
            <a:r>
              <a:t>Existing v4 video covers flows and calibration; send this addendum with it.</a:t>
            </a:r>
          </a:p>
        </p:txBody>
      </p:sp>
      <p:sp>
        <p:nvSpPr>
          <p:cNvPr id="10" name="TextBox 9"/>
          <p:cNvSpPr txBox="1"/>
          <p:nvPr/>
        </p:nvSpPr>
        <p:spPr>
          <a:xfrm>
            <a:off x="548640" y="6419088"/>
            <a:ext cx="10972800" cy="274320"/>
          </a:xfrm>
          <a:prstGeom prst="rect">
            <a:avLst/>
          </a:prstGeom>
          <a:noFill/>
        </p:spPr>
        <p:txBody>
          <a:bodyPr wrap="square" lIns="0" rIns="0">
            <a:spAutoFit/>
          </a:bodyPr>
          <a:lstStyle/>
          <a:p>
            <a:pPr>
              <a:defRPr sz="1000" b="0">
                <a:solidFill>
                  <a:srgbClr val="B9C8DE"/>
                </a:solidFill>
                <a:latin typeface="DejaVu Sans"/>
              </a:defRPr>
            </a:pPr>
            <a:r>
              <a:t>Packet adaptation · GB10 evidence · original flow results unchanged                                      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